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9"/>
    <p:sldId id="270" r:id="rId10"/>
    <p:sldId id="271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3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39" userDrawn="1">
          <p15:clr>
            <a:srgbClr val="A4A3A4"/>
          </p15:clr>
        </p15:guide>
        <p15:guide id="2" pos="7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89845" autoAdjust="0"/>
  </p:normalViewPr>
  <p:slideViewPr>
    <p:cSldViewPr snapToGrid="0">
      <p:cViewPr>
        <p:scale>
          <a:sx n="144" d="100"/>
          <a:sy n="144" d="100"/>
        </p:scale>
        <p:origin x="-581" y="-499"/>
      </p:cViewPr>
      <p:guideLst>
        <p:guide orient="horz" pos="3339"/>
        <p:guide pos="75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4890FB-6FE1-4844-A158-C3691ABD9614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BC041E-840B-4D67-AAFA-AE2D07B130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335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BC041E-840B-4D67-AAFA-AE2D07B1301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890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4F9D19-0773-45E4-B151-DFEF6E1A66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4796E6A-5E7C-409A-9FF5-F670B2A419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E7FEE7-E7A3-4A04-B01A-1B02C152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400F07-310C-4CD9-925F-9767BD10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EACD66-766E-4A05-92CF-0C2F31109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6033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B8B609-B64A-46AB-A77E-D835520E8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991718-3AA4-428E-BE15-741BE0B45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2F16F4-71C0-48D6-9F85-780D1175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0AE13F-EF9A-4AC2-A678-F6E3B9ADA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4DC0EF-3F16-4966-9ADB-5674F6770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72938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CB5250-FC5B-41B2-99F4-0902ADAC2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6F79832-AFCF-4468-8D39-93A1B69B13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7A5F0D-B048-446E-AAF7-85DB70B82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7F28D4-7796-4B14-8248-CCA5E90D6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19AFEF1-A56B-4EDA-9D09-089B42271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7265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F57C30-C0BA-4B24-B0B5-CFC365D1A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207762-C0C8-4C2B-98CD-DFB9DE915D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308D2A8-ED06-4020-91FE-175C5549ED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37F91C-3062-4AF4-9BA9-297E3355E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F8996F7-5DEC-4E07-9FA4-0C1651A76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1E2D5B3-16FE-4CBC-9AD2-041E93689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67251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12A3DC-1F1E-4B85-9864-DD47FDEEF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F0A1AB-43FD-4B81-86C5-CBECC61BB6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4696FC-DDF1-4784-A3D2-4C82ED2CF4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3F4D01B-F79B-4211-AE22-03D57C47D8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9E9EE-238B-46E7-895A-1C25A331F5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C80EEFA-A23C-45CF-B27F-B3C0A5B8F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CB04DA2-7A78-48E9-843A-D93030836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426FFA8-C8C9-4623-9C05-2AA9FB26E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6004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12273B-392E-4343-8AD5-385E71D4C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49A2E0B-9AC5-4D36-9CFA-ADE4E8F6F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8D046F5-5505-4A5C-855B-8A48FCDA8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0A3F913-AEF6-46DF-ABA0-1035E9DB7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0517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B3201D6-99C8-4DAC-8067-41E7CA127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DF2F505-3AB9-4CE5-806C-E31E624D6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573B31-D6A1-4AC7-B7A7-2679FA977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0622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8F8FD-18C1-43C5-8DFE-0B11922C0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75373E-B94C-494B-AD2F-006D5EF50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C8181B1-A6FB-4BF2-882C-02C7B0BF0C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DF50DC1-E527-4D12-B8D0-F461337E3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63B0421-20FF-489A-88D9-706CBA631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5658E3-2E9F-49BD-82C0-92B87ADF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3840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5F3DA1-2DB4-4A5D-9D91-D1E92CE24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FAB9B42-EC5C-4A5F-B76A-83516AB6E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74261E-07D1-4A23-9019-F06BADA033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8B3460-9A6C-4453-B582-FDB8E2AD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271D61-D314-498E-8268-AAC2F6F18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90636EA-0C1B-4DA0-9C19-8A3A9EEAB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677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5EE3C5-5107-4849-B455-D90F66DF2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8BDF05-5298-42A1-936E-247A19B2AA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33ACDF-4716-4A44-A011-A888D895B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FA4BAC-9A7A-4EDE-9F5A-E803CA05F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499AFB-09C9-4063-A018-C9C1B21D4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620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0B01859-1DC1-4734-ADE7-73DF6BC78C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E91EB4E-9701-497B-822C-A141D7BA2F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BE1ACA-FCB5-4A06-836E-941FD7E12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04D24-265E-472F-8520-1152370C2B6E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AD0789-4966-4090-8E4A-E1EA542B6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C94E32-011F-4AAF-A3C7-71ECB6BF4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4098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F1CED9F-BFEB-438B-AB8C-A2EB2EF42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6EF5D8-C2FC-4A90-BE68-924B495937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00A111-81C3-4AFE-8F5D-C8B999C78F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004D24-265E-472F-8520-1152370C2B6E}" type="datetimeFigureOut">
              <a:rPr lang="ko-KR" altLang="en-US" smtClean="0"/>
              <a:t>2026-07-05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09B2A6-8485-492D-8A62-357E9AF85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C7EF43-26AC-46A5-B64A-639CCD3962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AB98B3-CB01-40A2-A17D-635F9DE57B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6083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435C19B-31E0-44F3-9D03-2C7284743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419" y="333953"/>
            <a:ext cx="5257790" cy="49314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0BE28A-18FA-4F5F-A536-867D9330F65F}"/>
              </a:ext>
            </a:extLst>
          </p:cNvPr>
          <p:cNvSpPr txBox="1"/>
          <p:nvPr/>
        </p:nvSpPr>
        <p:spPr>
          <a:xfrm>
            <a:off x="3856234" y="4402197"/>
            <a:ext cx="320553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800" dirty="0"/>
              <a:t>국가 가스수급 예측 플랫폼 </a:t>
            </a:r>
            <a:r>
              <a:rPr lang="en-US" altLang="ko-KR" sz="800" dirty="0"/>
              <a:t>(https://gascast.gonetis.com)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1235920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9" name="_x624172856">
            <a:extLst>
              <a:ext uri="{FF2B5EF4-FFF2-40B4-BE49-F238E27FC236}">
                <a16:creationId xmlns:a16="http://schemas.microsoft.com/office/drawing/2014/main" id="{24D48307-9697-4B4D-9CE7-4A4472B1E3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0" r="1175"/>
          <a:stretch>
            <a:fillRect/>
          </a:stretch>
        </p:blipFill>
        <p:spPr bwMode="auto">
          <a:xfrm>
            <a:off x="1200150" y="494545"/>
            <a:ext cx="5742414" cy="4478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90D19-8178-4FC1-BDF0-2AC2135D50AB}"/>
              </a:ext>
            </a:extLst>
          </p:cNvPr>
          <p:cNvSpPr txBox="1"/>
          <p:nvPr/>
        </p:nvSpPr>
        <p:spPr>
          <a:xfrm>
            <a:off x="1200150" y="2649128"/>
            <a:ext cx="533127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00" dirty="0"/>
              <a:t>출처 </a:t>
            </a:r>
            <a:r>
              <a:rPr lang="en-US" altLang="ko-KR" sz="600" dirty="0"/>
              <a:t>: </a:t>
            </a:r>
            <a:r>
              <a:rPr lang="ko-KR" altLang="en-US" sz="600" dirty="0"/>
              <a:t>한국가스공사 용도별 월 공급량</a:t>
            </a:r>
            <a:r>
              <a:rPr lang="en-US" altLang="ko-KR" sz="600" dirty="0"/>
              <a:t>(2020-2026)</a:t>
            </a:r>
            <a:endParaRPr lang="ko-KR" altLang="en-US" sz="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BC8A90-3EA4-4BD1-969E-EE79BE464E46}"/>
              </a:ext>
            </a:extLst>
          </p:cNvPr>
          <p:cNvSpPr txBox="1"/>
          <p:nvPr/>
        </p:nvSpPr>
        <p:spPr>
          <a:xfrm>
            <a:off x="1200150" y="4811250"/>
            <a:ext cx="3878996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00" dirty="0"/>
              <a:t>출처 </a:t>
            </a:r>
            <a:r>
              <a:rPr lang="en-US" altLang="ko-KR" sz="600" dirty="0"/>
              <a:t>: </a:t>
            </a:r>
            <a:r>
              <a:rPr lang="ko-KR" altLang="en-US" sz="600" dirty="0"/>
              <a:t>한국전력거래소 전력통계정보시스템 시장참여 설비용량</a:t>
            </a:r>
            <a:r>
              <a:rPr lang="en-US" altLang="ko-KR" sz="600" dirty="0"/>
              <a:t>, </a:t>
            </a:r>
            <a:r>
              <a:rPr lang="ko-KR" altLang="en-US" sz="600" dirty="0"/>
              <a:t>발전원별 발전량</a:t>
            </a:r>
          </a:p>
        </p:txBody>
      </p:sp>
    </p:spTree>
    <p:extLst>
      <p:ext uri="{BB962C8B-B14F-4D97-AF65-F5344CB8AC3E}">
        <p14:creationId xmlns:p14="http://schemas.microsoft.com/office/powerpoint/2010/main" val="1377305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D5C13DB-0E0D-43F9-BC9D-68A286844FBE}"/>
              </a:ext>
            </a:extLst>
          </p:cNvPr>
          <p:cNvSpPr txBox="1"/>
          <p:nvPr/>
        </p:nvSpPr>
        <p:spPr>
          <a:xfrm>
            <a:off x="1353830" y="4228647"/>
            <a:ext cx="53677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한국가스공사 </a:t>
            </a:r>
            <a:r>
              <a:rPr lang="en-US" altLang="ko-KR" sz="700" dirty="0"/>
              <a:t>LNG </a:t>
            </a:r>
            <a:r>
              <a:rPr lang="ko-KR" altLang="en-US" sz="700" dirty="0"/>
              <a:t>수입국 연도별 </a:t>
            </a:r>
            <a:r>
              <a:rPr lang="en-US" altLang="ko-KR" sz="700" dirty="0"/>
              <a:t>LNG </a:t>
            </a:r>
            <a:r>
              <a:rPr lang="ko-KR" altLang="en-US" sz="700" dirty="0"/>
              <a:t>단기 거래 비중 변화</a:t>
            </a:r>
            <a:r>
              <a:rPr lang="en-US" altLang="ko-KR" sz="700" dirty="0"/>
              <a:t>(2004-2024)</a:t>
            </a:r>
            <a:endParaRPr lang="ko-KR" altLang="en-US" sz="70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FA545BD-4F2A-4309-8431-4480A921DDE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570" b="7977"/>
          <a:stretch/>
        </p:blipFill>
        <p:spPr>
          <a:xfrm>
            <a:off x="1200150" y="1298205"/>
            <a:ext cx="6467784" cy="289731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81DD375B-4571-4226-8D6B-13B77A96FD9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0525" b="95708"/>
          <a:stretch/>
        </p:blipFill>
        <p:spPr>
          <a:xfrm>
            <a:off x="1797978" y="1400657"/>
            <a:ext cx="2553128" cy="143838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F8458750-9A8D-4312-9FA8-E17B35F9065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4030"/>
          <a:stretch/>
        </p:blipFill>
        <p:spPr>
          <a:xfrm>
            <a:off x="1153917" y="1103747"/>
            <a:ext cx="6467784" cy="200056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4F140FF-CEFF-4E7B-8422-4E25EF1876C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2370" r="3564"/>
          <a:stretch/>
        </p:blipFill>
        <p:spPr>
          <a:xfrm>
            <a:off x="1344605" y="1080864"/>
            <a:ext cx="6013002" cy="248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90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>
            <a:extLst>
              <a:ext uri="{FF2B5EF4-FFF2-40B4-BE49-F238E27FC236}">
                <a16:creationId xmlns:a16="http://schemas.microsoft.com/office/drawing/2014/main" id="{CC54B9F3-CC9A-471B-BCD6-44F116D02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pic>
        <p:nvPicPr>
          <p:cNvPr id="4099" name="_x624171704">
            <a:extLst>
              <a:ext uri="{FF2B5EF4-FFF2-40B4-BE49-F238E27FC236}">
                <a16:creationId xmlns:a16="http://schemas.microsoft.com/office/drawing/2014/main" id="{05F13A5B-BD3F-43F5-8B90-830F7D0043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214" b="4154"/>
          <a:stretch/>
        </p:blipFill>
        <p:spPr bwMode="auto">
          <a:xfrm>
            <a:off x="1200148" y="2993139"/>
            <a:ext cx="5847775" cy="1917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F29E736-FD9B-4BB5-A537-FD04CD1DCBF5}"/>
              </a:ext>
            </a:extLst>
          </p:cNvPr>
          <p:cNvSpPr txBox="1"/>
          <p:nvPr/>
        </p:nvSpPr>
        <p:spPr>
          <a:xfrm>
            <a:off x="1200148" y="4879623"/>
            <a:ext cx="5781420" cy="2000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아시아 </a:t>
            </a:r>
            <a:r>
              <a:rPr lang="en-US" altLang="ko-KR" sz="700" dirty="0"/>
              <a:t>LNG </a:t>
            </a:r>
            <a:r>
              <a:rPr lang="ko-KR" altLang="en-US" sz="700" dirty="0"/>
              <a:t>현물가격</a:t>
            </a:r>
            <a:r>
              <a:rPr lang="en-US" altLang="ko-KR" sz="700" dirty="0"/>
              <a:t>(JKM) – S&amp;P Global Commodity Insight(Platts), </a:t>
            </a:r>
            <a:r>
              <a:rPr lang="ko-KR" altLang="en-US" sz="700" dirty="0"/>
              <a:t>미국 천연가스 현물가격</a:t>
            </a:r>
            <a:r>
              <a:rPr lang="en-US" altLang="ko-KR" sz="700" dirty="0"/>
              <a:t>(Henry Hub) – </a:t>
            </a:r>
            <a:r>
              <a:rPr lang="ko-KR" altLang="en-US" sz="700" dirty="0"/>
              <a:t>미국 에너지정보청</a:t>
            </a:r>
            <a:r>
              <a:rPr lang="en-US" altLang="ko-KR" sz="700" dirty="0"/>
              <a:t>(EIA)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385467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5" name="_x624184808">
            <a:extLst>
              <a:ext uri="{FF2B5EF4-FFF2-40B4-BE49-F238E27FC236}">
                <a16:creationId xmlns:a16="http://schemas.microsoft.com/office/drawing/2014/main" id="{3022224F-3DF5-4F55-8C0B-1F83AC8D7D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150" y="883651"/>
            <a:ext cx="5767388" cy="2014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7BB8CE-0830-4F79-9FDE-9C3F0A9AF226}"/>
              </a:ext>
            </a:extLst>
          </p:cNvPr>
          <p:cNvSpPr txBox="1"/>
          <p:nvPr/>
        </p:nvSpPr>
        <p:spPr>
          <a:xfrm>
            <a:off x="1323718" y="2875510"/>
            <a:ext cx="21732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700" dirty="0"/>
              <a:t>한국전력거래소</a:t>
            </a:r>
            <a:r>
              <a:rPr lang="ko-KR" altLang="en-US" sz="800" dirty="0"/>
              <a:t> 발전원별 발전량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5F524E-B9B3-4645-856C-6A167009B3A6}"/>
              </a:ext>
            </a:extLst>
          </p:cNvPr>
          <p:cNvSpPr txBox="1"/>
          <p:nvPr/>
        </p:nvSpPr>
        <p:spPr>
          <a:xfrm>
            <a:off x="1385501" y="5029891"/>
            <a:ext cx="303203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</a:t>
            </a:r>
            <a:r>
              <a:rPr lang="en-US" altLang="ko-KR" sz="700" dirty="0"/>
              <a:t>: </a:t>
            </a:r>
            <a:r>
              <a:rPr lang="ko-KR" altLang="en-US" sz="700" dirty="0"/>
              <a:t>자체개발 전력수요 예측모델 일기예보 기반 시뮬레이션 결과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E671418-8DB0-4AAA-B08A-2E70244643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180"/>
          <a:stretch/>
        </p:blipFill>
        <p:spPr>
          <a:xfrm>
            <a:off x="1261623" y="3090954"/>
            <a:ext cx="5767388" cy="1946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649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5" name="_x624185744">
            <a:extLst>
              <a:ext uri="{FF2B5EF4-FFF2-40B4-BE49-F238E27FC236}">
                <a16:creationId xmlns:a16="http://schemas.microsoft.com/office/drawing/2014/main" id="{E3F4F990-4C60-4244-8B51-4F35941EE2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150" y="530225"/>
            <a:ext cx="5648325" cy="1924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9" name="_x624189344">
            <a:extLst>
              <a:ext uri="{FF2B5EF4-FFF2-40B4-BE49-F238E27FC236}">
                <a16:creationId xmlns:a16="http://schemas.microsoft.com/office/drawing/2014/main" id="{5FE95372-434B-4E08-8692-AA98241688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9858"/>
          <a:stretch/>
        </p:blipFill>
        <p:spPr bwMode="auto">
          <a:xfrm>
            <a:off x="1126330" y="3046906"/>
            <a:ext cx="5795963" cy="19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A3DC23-B5EB-41B1-92EF-34FA1C53FE71}"/>
              </a:ext>
            </a:extLst>
          </p:cNvPr>
          <p:cNvSpPr txBox="1"/>
          <p:nvPr/>
        </p:nvSpPr>
        <p:spPr>
          <a:xfrm>
            <a:off x="1379948" y="4837654"/>
            <a:ext cx="6093228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출처</a:t>
            </a:r>
            <a:r>
              <a:rPr lang="en-US" altLang="ko-KR" sz="700" dirty="0"/>
              <a:t>: </a:t>
            </a:r>
            <a:r>
              <a:rPr lang="ko-KR" altLang="en-US" sz="700" dirty="0"/>
              <a:t>자체 개발 신재생 발전량 예측모델 일기예보 기반 시뮬레이션 결과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129310-8A8A-4872-BD97-EC1DC97B9ECE}"/>
              </a:ext>
            </a:extLst>
          </p:cNvPr>
          <p:cNvSpPr txBox="1"/>
          <p:nvPr/>
        </p:nvSpPr>
        <p:spPr>
          <a:xfrm>
            <a:off x="1282344" y="2454275"/>
            <a:ext cx="53033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기상청</a:t>
            </a:r>
            <a:r>
              <a:rPr lang="en-US" altLang="ko-KR" sz="700" dirty="0"/>
              <a:t> </a:t>
            </a:r>
            <a:r>
              <a:rPr lang="ko-KR" altLang="en-US" sz="700" dirty="0"/>
              <a:t>지상관측자료</a:t>
            </a:r>
            <a:r>
              <a:rPr lang="en-US" altLang="ko-KR" sz="700" dirty="0"/>
              <a:t>(</a:t>
            </a:r>
            <a:r>
              <a:rPr lang="ko-KR" altLang="en-US" sz="700" dirty="0"/>
              <a:t>일사량 및 풍속</a:t>
            </a:r>
            <a:r>
              <a:rPr lang="en-US" altLang="ko-KR" sz="700" dirty="0"/>
              <a:t>), </a:t>
            </a:r>
            <a:r>
              <a:rPr lang="ko-KR" altLang="en-US" sz="700" dirty="0"/>
              <a:t>한국 전력거래소 전력통계정보시스템 시장참여 설비용량</a:t>
            </a:r>
            <a:r>
              <a:rPr lang="en-US" altLang="ko-KR" sz="700" dirty="0"/>
              <a:t>, </a:t>
            </a:r>
            <a:r>
              <a:rPr lang="ko-KR" altLang="en-US" sz="700" dirty="0"/>
              <a:t>발전원별 발전량</a:t>
            </a:r>
            <a:r>
              <a:rPr lang="en-US" altLang="ko-KR" sz="700" dirty="0"/>
              <a:t>(</a:t>
            </a:r>
            <a:r>
              <a:rPr lang="ko-KR" altLang="en-US" sz="700" dirty="0"/>
              <a:t>이용률</a:t>
            </a:r>
            <a:r>
              <a:rPr lang="en-US" altLang="ko-KR" sz="700" dirty="0"/>
              <a:t>)</a:t>
            </a:r>
            <a:endParaRPr lang="ko-KR" altLang="en-US" sz="700" dirty="0"/>
          </a:p>
        </p:txBody>
      </p:sp>
      <p:pic>
        <p:nvPicPr>
          <p:cNvPr id="13" name="_x624189344">
            <a:extLst>
              <a:ext uri="{FF2B5EF4-FFF2-40B4-BE49-F238E27FC236}">
                <a16:creationId xmlns:a16="http://schemas.microsoft.com/office/drawing/2014/main" id="{F98850B0-1B4B-4AA6-9320-C00FDF7F32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92"/>
          <a:stretch/>
        </p:blipFill>
        <p:spPr bwMode="auto">
          <a:xfrm>
            <a:off x="1126330" y="3189393"/>
            <a:ext cx="5795963" cy="1704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2665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3459513-5343-4985-9A08-3B224F51A87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6387"/>
          <a:stretch/>
        </p:blipFill>
        <p:spPr>
          <a:xfrm>
            <a:off x="1200150" y="3145650"/>
            <a:ext cx="5192820" cy="18968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8A7402-8BEF-401E-9A85-A1A2DA610576}"/>
              </a:ext>
            </a:extLst>
          </p:cNvPr>
          <p:cNvSpPr txBox="1"/>
          <p:nvPr/>
        </p:nvSpPr>
        <p:spPr>
          <a:xfrm>
            <a:off x="1318302" y="2876282"/>
            <a:ext cx="484105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한국가스공사</a:t>
            </a:r>
            <a:r>
              <a:rPr lang="en-US" altLang="ko-KR" sz="700" dirty="0"/>
              <a:t> </a:t>
            </a:r>
            <a:r>
              <a:rPr lang="ko-KR" altLang="en-US" sz="700" dirty="0"/>
              <a:t>발전용 가스 일일 공급량</a:t>
            </a:r>
            <a:r>
              <a:rPr lang="en-US" altLang="ko-KR" sz="700" dirty="0"/>
              <a:t>, </a:t>
            </a:r>
            <a:r>
              <a:rPr lang="ko-KR" altLang="en-US" sz="700" dirty="0"/>
              <a:t> 한국전력거래소 발전원별 발전량</a:t>
            </a:r>
            <a:r>
              <a:rPr lang="en-US" altLang="ko-KR" sz="700" dirty="0"/>
              <a:t>, </a:t>
            </a:r>
            <a:r>
              <a:rPr lang="ko-KR" altLang="en-US" sz="700" dirty="0"/>
              <a:t>기상청 지상관측자료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FBB2F7-6C92-4CAD-B677-4ED7BD9CB43D}"/>
              </a:ext>
            </a:extLst>
          </p:cNvPr>
          <p:cNvSpPr txBox="1"/>
          <p:nvPr/>
        </p:nvSpPr>
        <p:spPr>
          <a:xfrm>
            <a:off x="1322302" y="5011758"/>
            <a:ext cx="475372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한국가스공사</a:t>
            </a:r>
            <a:r>
              <a:rPr lang="en-US" altLang="ko-KR" sz="700" dirty="0"/>
              <a:t> </a:t>
            </a:r>
            <a:r>
              <a:rPr lang="ko-KR" altLang="en-US" sz="700" dirty="0"/>
              <a:t>월별 시도별 도시가스 판매현황</a:t>
            </a:r>
            <a:r>
              <a:rPr lang="en-US" altLang="ko-KR" sz="700" dirty="0"/>
              <a:t>, </a:t>
            </a:r>
            <a:r>
              <a:rPr lang="ko-KR" altLang="en-US" sz="700" dirty="0">
                <a:latin typeface="Consolas" panose="020B0609020204030204" pitchFamily="49" charset="0"/>
              </a:rPr>
              <a:t> 한국가스공사 용도별 월 공급량</a:t>
            </a:r>
            <a:r>
              <a:rPr lang="en-US" altLang="ko-KR" sz="700" dirty="0">
                <a:latin typeface="Consolas" panose="020B0609020204030204" pitchFamily="49" charset="0"/>
              </a:rPr>
              <a:t>, </a:t>
            </a:r>
            <a:r>
              <a:rPr lang="ko-KR" altLang="en-US" sz="700" dirty="0">
                <a:latin typeface="Consolas" panose="020B0609020204030204" pitchFamily="49" charset="0"/>
              </a:rPr>
              <a:t>기상청 지상관측자료</a:t>
            </a:r>
            <a:endParaRPr lang="ko-KR" altLang="en-US" sz="7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AFC497A-29CE-470B-BA3E-0CD123C0879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3" t="16347" b="17144"/>
          <a:stretch/>
        </p:blipFill>
        <p:spPr>
          <a:xfrm>
            <a:off x="1200150" y="840250"/>
            <a:ext cx="5047716" cy="203603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A64C751-6D19-4E2E-B496-38F9DE9B897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049" b="94024"/>
          <a:stretch/>
        </p:blipFill>
        <p:spPr>
          <a:xfrm>
            <a:off x="2119495" y="570883"/>
            <a:ext cx="3037186" cy="20005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CD5736C-7E70-427A-AE6D-5C250FDA73E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8223" b="3313"/>
          <a:stretch/>
        </p:blipFill>
        <p:spPr>
          <a:xfrm>
            <a:off x="5685502" y="3458995"/>
            <a:ext cx="473854" cy="38129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7D5EB72-0A64-46C6-AFB1-BC951468695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7" b="6325"/>
          <a:stretch/>
        </p:blipFill>
        <p:spPr>
          <a:xfrm>
            <a:off x="3992324" y="3335431"/>
            <a:ext cx="2293216" cy="159673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5E1003C3-959E-4C1A-9DBE-50AFEF80AC0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7098" t="60599" r="37404" b="36744"/>
          <a:stretch/>
        </p:blipFill>
        <p:spPr>
          <a:xfrm>
            <a:off x="4071918" y="3335431"/>
            <a:ext cx="285503" cy="115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7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_x447540032">
            <a:extLst>
              <a:ext uri="{FF2B5EF4-FFF2-40B4-BE49-F238E27FC236}">
                <a16:creationId xmlns:a16="http://schemas.microsoft.com/office/drawing/2014/main" id="{EDD0117F-9861-4244-9209-7BC3F13D4F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874"/>
          <a:stretch/>
        </p:blipFill>
        <p:spPr bwMode="auto">
          <a:xfrm>
            <a:off x="2830664" y="2926937"/>
            <a:ext cx="535305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_x447540032">
            <a:extLst>
              <a:ext uri="{FF2B5EF4-FFF2-40B4-BE49-F238E27FC236}">
                <a16:creationId xmlns:a16="http://schemas.microsoft.com/office/drawing/2014/main" id="{B5A4B835-F6A5-470F-8AF5-6B8A4F2BCD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753"/>
          <a:stretch/>
        </p:blipFill>
        <p:spPr bwMode="auto">
          <a:xfrm>
            <a:off x="2830664" y="1971262"/>
            <a:ext cx="5353050" cy="955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9154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_x624178472">
            <a:extLst>
              <a:ext uri="{FF2B5EF4-FFF2-40B4-BE49-F238E27FC236}">
                <a16:creationId xmlns:a16="http://schemas.microsoft.com/office/drawing/2014/main" id="{227D2D49-4455-4F5D-B99F-161590DE23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5327" y="1479479"/>
            <a:ext cx="5027136" cy="194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9E94AEE-2622-4421-8B80-EA13CE0C33F8}"/>
              </a:ext>
            </a:extLst>
          </p:cNvPr>
          <p:cNvSpPr txBox="1"/>
          <p:nvPr/>
        </p:nvSpPr>
        <p:spPr>
          <a:xfrm>
            <a:off x="1539961" y="3429000"/>
            <a:ext cx="5277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800" dirty="0"/>
              <a:t>자체개발 발전용 가스 송출량 예측모델 일기예보 기반 시뮬레이션 결과</a:t>
            </a:r>
          </a:p>
        </p:txBody>
      </p:sp>
      <p:pic>
        <p:nvPicPr>
          <p:cNvPr id="14337" name="_x850085272">
            <a:extLst>
              <a:ext uri="{FF2B5EF4-FFF2-40B4-BE49-F238E27FC236}">
                <a16:creationId xmlns:a16="http://schemas.microsoft.com/office/drawing/2014/main" id="{9827E87C-FFF5-4ED6-AD02-D86430234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66" r="2028" b="3600"/>
          <a:stretch>
            <a:fillRect/>
          </a:stretch>
        </p:blipFill>
        <p:spPr bwMode="auto">
          <a:xfrm>
            <a:off x="1647022" y="4630706"/>
            <a:ext cx="5610225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CA34BE-F7D0-4AB2-A172-29D85B07EA3A}"/>
              </a:ext>
            </a:extLst>
          </p:cNvPr>
          <p:cNvSpPr txBox="1"/>
          <p:nvPr/>
        </p:nvSpPr>
        <p:spPr>
          <a:xfrm>
            <a:off x="1647022" y="5566329"/>
            <a:ext cx="20516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800" dirty="0"/>
              <a:t>기상청 </a:t>
            </a:r>
            <a:r>
              <a:rPr lang="en-US" altLang="ko-KR" sz="800" dirty="0"/>
              <a:t>KIM-</a:t>
            </a:r>
            <a:r>
              <a:rPr lang="ko-KR" altLang="en-US" sz="800" dirty="0"/>
              <a:t>전구 수치모델  </a:t>
            </a:r>
          </a:p>
          <a:p>
            <a:endParaRPr lang="ko-KR" altLang="en-US" sz="8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8B53FD9-AE02-4998-A4F8-D574A24A09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38"/>
          <a:stretch/>
        </p:blipFill>
        <p:spPr>
          <a:xfrm>
            <a:off x="3825084" y="1693628"/>
            <a:ext cx="6826955" cy="315311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5E937C1-1F08-4B13-9171-1A000E74A3A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1103"/>
          <a:stretch/>
        </p:blipFill>
        <p:spPr>
          <a:xfrm>
            <a:off x="3825084" y="1527943"/>
            <a:ext cx="6826955" cy="33136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9E22552-0212-453B-83A8-F8E39E9C72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521" y="3935709"/>
            <a:ext cx="6828112" cy="3316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253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98F21008-B7BC-4866-A8AD-F5F84F691F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1" t="86916"/>
          <a:stretch/>
        </p:blipFill>
        <p:spPr>
          <a:xfrm>
            <a:off x="6224111" y="4547938"/>
            <a:ext cx="4699822" cy="358818"/>
          </a:xfrm>
          <a:prstGeom prst="rect">
            <a:avLst/>
          </a:prstGeom>
        </p:spPr>
      </p:pic>
      <p:pic>
        <p:nvPicPr>
          <p:cNvPr id="14" name="_x624178472">
            <a:extLst>
              <a:ext uri="{FF2B5EF4-FFF2-40B4-BE49-F238E27FC236}">
                <a16:creationId xmlns:a16="http://schemas.microsoft.com/office/drawing/2014/main" id="{32C7BC04-72F4-4955-952E-4D6651CF6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80030" y="1366897"/>
            <a:ext cx="5027136" cy="194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58BC471-E296-4795-BB5F-2FA9020260F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38" b="26126"/>
          <a:stretch/>
        </p:blipFill>
        <p:spPr>
          <a:xfrm>
            <a:off x="5896754" y="2942580"/>
            <a:ext cx="5027135" cy="160535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F9F0F6E-8A76-4555-A763-C40FE06D016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49" t="63268" b="11972"/>
          <a:stretch/>
        </p:blipFill>
        <p:spPr>
          <a:xfrm>
            <a:off x="9126272" y="3827424"/>
            <a:ext cx="1691657" cy="679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AD36970-8F8D-46D4-9071-5AAB1D990FE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84" t="-869" b="91103"/>
          <a:stretch/>
        </p:blipFill>
        <p:spPr>
          <a:xfrm>
            <a:off x="7115415" y="2814034"/>
            <a:ext cx="3499334" cy="257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DB22FC6-BE64-49CF-8EB4-2CB490BB1A86}"/>
              </a:ext>
            </a:extLst>
          </p:cNvPr>
          <p:cNvSpPr txBox="1"/>
          <p:nvPr/>
        </p:nvSpPr>
        <p:spPr>
          <a:xfrm>
            <a:off x="6106274" y="4819582"/>
            <a:ext cx="52774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800" dirty="0"/>
              <a:t>자체개발 발전용 가스 송출량 예측모델 일기예보 기반 시뮬레이션 결과</a:t>
            </a:r>
          </a:p>
        </p:txBody>
      </p:sp>
    </p:spTree>
    <p:extLst>
      <p:ext uri="{BB962C8B-B14F-4D97-AF65-F5344CB8AC3E}">
        <p14:creationId xmlns:p14="http://schemas.microsoft.com/office/powerpoint/2010/main" val="25403170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46D0C32-E5AF-4366-A2E4-374522B77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988" y="1052946"/>
            <a:ext cx="5635656" cy="42783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334F9C-D1B6-48A6-B5C1-0BD4B7243ECD}"/>
              </a:ext>
            </a:extLst>
          </p:cNvPr>
          <p:cNvSpPr txBox="1"/>
          <p:nvPr/>
        </p:nvSpPr>
        <p:spPr>
          <a:xfrm>
            <a:off x="3681572" y="4299457"/>
            <a:ext cx="320553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800" dirty="0"/>
              <a:t>국가 가스수급 예측 플랫폼 </a:t>
            </a:r>
            <a:r>
              <a:rPr lang="en-US" altLang="ko-KR" sz="800" dirty="0"/>
              <a:t>(https://gascast.gonetis.com)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978274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7" name="_x624180128">
            <a:extLst>
              <a:ext uri="{FF2B5EF4-FFF2-40B4-BE49-F238E27FC236}">
                <a16:creationId xmlns:a16="http://schemas.microsoft.com/office/drawing/2014/main" id="{5FDA25BE-F238-4A92-A1D5-F5059ACED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150" y="1604962"/>
            <a:ext cx="5661025" cy="364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B3C9CB-27EC-4191-A3ED-62F71D185570}"/>
              </a:ext>
            </a:extLst>
          </p:cNvPr>
          <p:cNvSpPr txBox="1"/>
          <p:nvPr/>
        </p:nvSpPr>
        <p:spPr>
          <a:xfrm>
            <a:off x="1298314" y="1961600"/>
            <a:ext cx="317129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800" dirty="0"/>
              <a:t>국가 가스수급 예측 플랫폼 </a:t>
            </a:r>
            <a:r>
              <a:rPr lang="en-US" altLang="ko-KR" sz="800" dirty="0"/>
              <a:t>(https://gascast.gonetis.com)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10393739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1" name="_x624178328">
            <a:extLst>
              <a:ext uri="{FF2B5EF4-FFF2-40B4-BE49-F238E27FC236}">
                <a16:creationId xmlns:a16="http://schemas.microsoft.com/office/drawing/2014/main" id="{F49CE893-BCEC-427E-B2F9-743009BE7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43" r="1714"/>
          <a:stretch>
            <a:fillRect/>
          </a:stretch>
        </p:blipFill>
        <p:spPr bwMode="auto">
          <a:xfrm>
            <a:off x="1200150" y="3429000"/>
            <a:ext cx="5695950" cy="175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C61E42-1A6E-4624-BD67-85F6EEE844D8}"/>
              </a:ext>
            </a:extLst>
          </p:cNvPr>
          <p:cNvSpPr txBox="1"/>
          <p:nvPr/>
        </p:nvSpPr>
        <p:spPr>
          <a:xfrm>
            <a:off x="3724809" y="4597407"/>
            <a:ext cx="317129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국가 가스수급 예측 플랫폼 </a:t>
            </a:r>
            <a:r>
              <a:rPr lang="en-US" altLang="ko-KR" sz="700" dirty="0"/>
              <a:t>(https://gascast.gonetis.com)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1862949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5" name="_x624172640">
            <a:extLst>
              <a:ext uri="{FF2B5EF4-FFF2-40B4-BE49-F238E27FC236}">
                <a16:creationId xmlns:a16="http://schemas.microsoft.com/office/drawing/2014/main" id="{02F436CD-878F-4AE4-8A91-4B8FDD9E1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150" y="1493838"/>
            <a:ext cx="5807075" cy="3870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308581-C089-432E-9D56-5847AC2AA6E2}"/>
              </a:ext>
            </a:extLst>
          </p:cNvPr>
          <p:cNvSpPr txBox="1"/>
          <p:nvPr/>
        </p:nvSpPr>
        <p:spPr>
          <a:xfrm>
            <a:off x="3562255" y="1493837"/>
            <a:ext cx="317129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국가 가스수급 예측 플랫폼 </a:t>
            </a:r>
            <a:r>
              <a:rPr lang="en-US" altLang="ko-KR" sz="700" dirty="0"/>
              <a:t>(https://gascast.gonetis.com)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716949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89" name="_x624172352">
            <a:extLst>
              <a:ext uri="{FF2B5EF4-FFF2-40B4-BE49-F238E27FC236}">
                <a16:creationId xmlns:a16="http://schemas.microsoft.com/office/drawing/2014/main" id="{75C85392-5A40-4865-8C45-D8F0C5084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26" b="27965"/>
          <a:stretch>
            <a:fillRect/>
          </a:stretch>
        </p:blipFill>
        <p:spPr bwMode="auto">
          <a:xfrm>
            <a:off x="1200150" y="3975100"/>
            <a:ext cx="5508625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606497-6774-4B4C-878C-2FFAE5A554B3}"/>
              </a:ext>
            </a:extLst>
          </p:cNvPr>
          <p:cNvSpPr txBox="1"/>
          <p:nvPr/>
        </p:nvSpPr>
        <p:spPr>
          <a:xfrm>
            <a:off x="3710536" y="3975100"/>
            <a:ext cx="317129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출처 </a:t>
            </a:r>
            <a:r>
              <a:rPr lang="en-US" altLang="ko-KR" sz="700" dirty="0"/>
              <a:t>: </a:t>
            </a:r>
            <a:r>
              <a:rPr lang="ko-KR" altLang="en-US" sz="700" dirty="0"/>
              <a:t>국가 가스수급 예측 플랫폼 </a:t>
            </a:r>
            <a:r>
              <a:rPr lang="en-US" altLang="ko-KR" sz="700" dirty="0"/>
              <a:t>(https://gascast.gonetis.com)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0413157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73579AC-9041-4791-9CBF-A8684E080A9B}"/>
              </a:ext>
            </a:extLst>
          </p:cNvPr>
          <p:cNvSpPr txBox="1"/>
          <p:nvPr/>
        </p:nvSpPr>
        <p:spPr>
          <a:xfrm>
            <a:off x="1592642" y="4387516"/>
            <a:ext cx="25336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출처 </a:t>
            </a:r>
            <a:r>
              <a:rPr lang="en-US" altLang="ko-KR" sz="800" dirty="0"/>
              <a:t>: </a:t>
            </a:r>
            <a:r>
              <a:rPr lang="ko-KR" altLang="en-US" sz="800" dirty="0"/>
              <a:t>기상청 지상관측자료</a:t>
            </a:r>
            <a:r>
              <a:rPr lang="en-US" altLang="ko-KR" sz="800" dirty="0"/>
              <a:t>, </a:t>
            </a:r>
            <a:r>
              <a:rPr lang="ko-KR" altLang="en-US" sz="800" dirty="0"/>
              <a:t>기상청 수치예보 자료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4CD3271-EEE4-4674-99EE-D70F4AF0E0A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17" t="1288" r="50418" b="91729"/>
          <a:stretch/>
        </p:blipFill>
        <p:spPr>
          <a:xfrm>
            <a:off x="3537892" y="1741468"/>
            <a:ext cx="3342555" cy="29199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7D8001E-96CA-41C0-A08E-109FFFD09E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84" b="9430"/>
          <a:stretch/>
        </p:blipFill>
        <p:spPr>
          <a:xfrm>
            <a:off x="945892" y="1235242"/>
            <a:ext cx="8984761" cy="315227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5A7CEB6-9113-448B-98DD-DA1D568EF1D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246" b="91146"/>
          <a:stretch/>
        </p:blipFill>
        <p:spPr>
          <a:xfrm>
            <a:off x="3153730" y="865003"/>
            <a:ext cx="4110878" cy="37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4686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C327C55D-2540-4449-88EE-585AA35F812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848" r="86333"/>
          <a:stretch/>
        </p:blipFill>
        <p:spPr>
          <a:xfrm>
            <a:off x="1684276" y="1478864"/>
            <a:ext cx="1585722" cy="345453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02037A2-C04B-42B5-ACA1-563CC8B7F82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887"/>
          <a:stretch/>
        </p:blipFill>
        <p:spPr>
          <a:xfrm>
            <a:off x="3269999" y="1366072"/>
            <a:ext cx="6823479" cy="356732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6FBF0F8-0597-495A-B4FA-B399F67146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92279"/>
          <a:stretch/>
        </p:blipFill>
        <p:spPr>
          <a:xfrm>
            <a:off x="3269999" y="1067019"/>
            <a:ext cx="6823479" cy="2990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E6942A-F4B5-4114-8C2A-0EC50B59E84F}"/>
              </a:ext>
            </a:extLst>
          </p:cNvPr>
          <p:cNvSpPr txBox="1"/>
          <p:nvPr/>
        </p:nvSpPr>
        <p:spPr>
          <a:xfrm>
            <a:off x="3743074" y="584895"/>
            <a:ext cx="3281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서비스 </a:t>
            </a:r>
            <a:r>
              <a:rPr lang="ko-KR" altLang="en-US" b="1" i="0" dirty="0">
                <a:solidFill>
                  <a:srgbClr val="00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인프라  고도화 로드맵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459644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889B9FA-FA7E-436F-A211-EA15108FBDA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7112"/>
          <a:stretch/>
        </p:blipFill>
        <p:spPr>
          <a:xfrm>
            <a:off x="10581861" y="1308136"/>
            <a:ext cx="352090" cy="440340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4DFF524-0F92-411A-A8C8-2903366F80B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5033"/>
          <a:stretch/>
        </p:blipFill>
        <p:spPr>
          <a:xfrm>
            <a:off x="613576" y="1308137"/>
            <a:ext cx="5482424" cy="44034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4EFEE7-54B4-4DEF-9F45-C12A5ED02DB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4112" t="11433" r="9095"/>
          <a:stretch/>
        </p:blipFill>
        <p:spPr>
          <a:xfrm>
            <a:off x="6096000" y="1811571"/>
            <a:ext cx="4485861" cy="389996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43E8B13-4A21-4EB7-95F8-0208A220D3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626" t="1805" r="49890" b="88387"/>
          <a:stretch/>
        </p:blipFill>
        <p:spPr>
          <a:xfrm>
            <a:off x="3354788" y="1491985"/>
            <a:ext cx="2741212" cy="43188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34B7E9B-4002-499B-9329-FE45195DC5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8474" t="1805" r="9696" b="88387"/>
          <a:stretch/>
        </p:blipFill>
        <p:spPr>
          <a:xfrm>
            <a:off x="7362873" y="1491985"/>
            <a:ext cx="2661454" cy="431880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95B0D29D-284A-49D2-A326-3757FF82520F}"/>
              </a:ext>
            </a:extLst>
          </p:cNvPr>
          <p:cNvSpPr/>
          <p:nvPr/>
        </p:nvSpPr>
        <p:spPr>
          <a:xfrm>
            <a:off x="697832" y="1451245"/>
            <a:ext cx="993354" cy="4318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8378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268</Words>
  <Application>Microsoft Office PowerPoint</Application>
  <PresentationFormat>와이드스크린</PresentationFormat>
  <Paragraphs>22</Paragraphs>
  <Slides>18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Malgun Gothic</vt:lpstr>
      <vt:lpstr>Malgun Gothic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범준 김</dc:creator>
  <cp:lastModifiedBy>범준 김</cp:lastModifiedBy>
  <cp:revision>23</cp:revision>
  <dcterms:created xsi:type="dcterms:W3CDTF">2026-07-02T06:22:13Z</dcterms:created>
  <dcterms:modified xsi:type="dcterms:W3CDTF">2026-07-05T06:02:40Z</dcterms:modified>
</cp:coreProperties>
</file>