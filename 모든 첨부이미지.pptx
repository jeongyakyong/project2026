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39" userDrawn="1">
          <p15:clr>
            <a:srgbClr val="A4A3A4"/>
          </p15:clr>
        </p15:guide>
        <p15:guide id="2" pos="7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89845" autoAdjust="0"/>
  </p:normalViewPr>
  <p:slideViewPr>
    <p:cSldViewPr snapToGrid="0">
      <p:cViewPr>
        <p:scale>
          <a:sx n="100" d="100"/>
          <a:sy n="100" d="100"/>
        </p:scale>
        <p:origin x="-44" y="-15"/>
      </p:cViewPr>
      <p:guideLst>
        <p:guide orient="horz" pos="3339"/>
        <p:guide pos="7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890FB-6FE1-4844-A158-C3691ABD9614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C041E-840B-4D67-AAFA-AE2D07B130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35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C041E-840B-4D67-AAFA-AE2D07B1301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90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4F9D19-0773-45E4-B151-DFEF6E1A6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796E6A-5E7C-409A-9FF5-F670B2A41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E7FEE7-E7A3-4A04-B01A-1B02C1526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D24-265E-472F-8520-1152370C2B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400F07-310C-4CD9-925F-9767BD10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EACD66-766E-4A05-92CF-0C2F31109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98B3-CB01-40A2-A17D-635F9DE5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033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8B609-B64A-46AB-A77E-D835520E8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991718-3AA4-428E-BE15-741BE0B45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2F16F4-71C0-48D6-9F85-780D11753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D24-265E-472F-8520-1152370C2B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AE13F-EF9A-4AC2-A678-F6E3B9ADA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DC0EF-3F16-4966-9ADB-5674F677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98B3-CB01-40A2-A17D-635F9DE5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293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CB5250-FC5B-41B2-99F4-0902ADAC2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F79832-AFCF-4468-8D39-93A1B69B1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7A5F0D-B048-446E-AAF7-85DB70B82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D24-265E-472F-8520-1152370C2B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7F28D4-7796-4B14-8248-CCA5E90D6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9AFEF1-A56B-4EDA-9D09-089B42271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98B3-CB01-40A2-A17D-635F9DE5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265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F57C30-C0BA-4B24-B0B5-CFC365D1A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207762-C0C8-4C2B-98CD-DFB9DE915D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08D2A8-ED06-4020-91FE-175C5549E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37F91C-3062-4AF4-9BA9-297E3355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D24-265E-472F-8520-1152370C2B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8996F7-5DEC-4E07-9FA4-0C1651A76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E2D5B3-16FE-4CBC-9AD2-041E93689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98B3-CB01-40A2-A17D-635F9DE5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725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12A3DC-1F1E-4B85-9864-DD47FDEEF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F0A1AB-43FD-4B81-86C5-CBECC61BB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4696FC-DDF1-4784-A3D2-4C82ED2CF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F4D01B-F79B-4211-AE22-03D57C47D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79E9EE-238B-46E7-895A-1C25A331F5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C80EEFA-A23C-45CF-B27F-B3C0A5B8F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D24-265E-472F-8520-1152370C2B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CB04DA2-7A78-48E9-843A-D93030836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26FFA8-C8C9-4623-9C05-2AA9FB26E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98B3-CB01-40A2-A17D-635F9DE5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00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12273B-392E-4343-8AD5-385E71D4C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49A2E0B-9AC5-4D36-9CFA-ADE4E8F6F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D24-265E-472F-8520-1152370C2B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8D046F5-5505-4A5C-855B-8A48FCDA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A3F913-AEF6-46DF-ABA0-1035E9DB7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98B3-CB01-40A2-A17D-635F9DE5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517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3201D6-99C8-4DAC-8067-41E7CA127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D24-265E-472F-8520-1152370C2B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DF2F505-3AB9-4CE5-806C-E31E624D6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573B31-D6A1-4AC7-B7A7-2679FA97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98B3-CB01-40A2-A17D-635F9DE5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622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08F8FD-18C1-43C5-8DFE-0B11922C0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75373E-B94C-494B-AD2F-006D5EF50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8181B1-A6FB-4BF2-882C-02C7B0BF0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F50DC1-E527-4D12-B8D0-F461337E3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D24-265E-472F-8520-1152370C2B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3B0421-20FF-489A-88D9-706CBA631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5658E3-2E9F-49BD-82C0-92B87AD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98B3-CB01-40A2-A17D-635F9DE5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840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5F3DA1-2DB4-4A5D-9D91-D1E92CE24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FAB9B42-EC5C-4A5F-B76A-83516AB6E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74261E-07D1-4A23-9019-F06BADA03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8B3460-9A6C-4453-B582-FDB8E2AD0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D24-265E-472F-8520-1152370C2B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271D61-D314-498E-8268-AAC2F6F18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0636EA-0C1B-4DA0-9C19-8A3A9EEAB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98B3-CB01-40A2-A17D-635F9DE5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77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5EE3C5-5107-4849-B455-D90F66DF2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8BDF05-5298-42A1-936E-247A19B2A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33ACDF-4716-4A44-A011-A888D895B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D24-265E-472F-8520-1152370C2B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FA4BAC-9A7A-4EDE-9F5A-E803CA05F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499AFB-09C9-4063-A018-C9C1B21D4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98B3-CB01-40A2-A17D-635F9DE5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620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B01859-1DC1-4734-ADE7-73DF6BC78C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91EB4E-9701-497B-822C-A141D7BA2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BE1ACA-FCB5-4A06-836E-941FD7E12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D24-265E-472F-8520-1152370C2B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AD0789-4966-4090-8E4A-E1EA542B6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C94E32-011F-4AAF-A3C7-71ECB6BF4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98B3-CB01-40A2-A17D-635F9DE5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098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1CED9F-BFEB-438B-AB8C-A2EB2EF4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6EF5D8-C2FC-4A90-BE68-924B49593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00A111-81C3-4AFE-8F5D-C8B999C78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04D24-265E-472F-8520-1152370C2B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09B2A6-8485-492D-8A62-357E9AF85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C7EF43-26AC-46A5-B64A-639CCD396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B98B3-CB01-40A2-A17D-635F9DE5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08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_x633352856">
            <a:extLst>
              <a:ext uri="{FF2B5EF4-FFF2-40B4-BE49-F238E27FC236}">
                <a16:creationId xmlns:a16="http://schemas.microsoft.com/office/drawing/2014/main" id="{66DFE451-7BA5-4748-ADF5-941547A15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035050"/>
            <a:ext cx="5778500" cy="430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0BE28A-18FA-4F5F-A536-867D9330F65F}"/>
              </a:ext>
            </a:extLst>
          </p:cNvPr>
          <p:cNvSpPr txBox="1"/>
          <p:nvPr/>
        </p:nvSpPr>
        <p:spPr>
          <a:xfrm>
            <a:off x="3856234" y="4402197"/>
            <a:ext cx="32055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 </a:t>
            </a:r>
            <a:r>
              <a:rPr lang="en-US" altLang="ko-KR" sz="800" dirty="0"/>
              <a:t>: </a:t>
            </a:r>
            <a:r>
              <a:rPr lang="ko-KR" altLang="en-US" sz="800" dirty="0"/>
              <a:t>국가 가스수급 예측 플랫폼 </a:t>
            </a:r>
            <a:r>
              <a:rPr lang="en-US" altLang="ko-KR" sz="800" dirty="0"/>
              <a:t>(https://gascast.gonetis.com)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235920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_x624172856">
            <a:extLst>
              <a:ext uri="{FF2B5EF4-FFF2-40B4-BE49-F238E27FC236}">
                <a16:creationId xmlns:a16="http://schemas.microsoft.com/office/drawing/2014/main" id="{24D48307-9697-4B4D-9CE7-4A4472B1E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" r="1175"/>
          <a:stretch>
            <a:fillRect/>
          </a:stretch>
        </p:blipFill>
        <p:spPr bwMode="auto">
          <a:xfrm>
            <a:off x="1200150" y="494545"/>
            <a:ext cx="5742414" cy="4478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D90D19-8178-4FC1-BDF0-2AC2135D50AB}"/>
              </a:ext>
            </a:extLst>
          </p:cNvPr>
          <p:cNvSpPr txBox="1"/>
          <p:nvPr/>
        </p:nvSpPr>
        <p:spPr>
          <a:xfrm>
            <a:off x="1200150" y="2649128"/>
            <a:ext cx="533127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/>
              <a:t>출처 </a:t>
            </a:r>
            <a:r>
              <a:rPr lang="en-US" altLang="ko-KR" sz="600" dirty="0"/>
              <a:t>: </a:t>
            </a:r>
            <a:r>
              <a:rPr lang="ko-KR" altLang="en-US" sz="600" dirty="0"/>
              <a:t>한국가스공사 용도별 월 공급량</a:t>
            </a:r>
            <a:r>
              <a:rPr lang="en-US" altLang="ko-KR" sz="600" dirty="0"/>
              <a:t>(2020-2026)</a:t>
            </a:r>
            <a:endParaRPr lang="ko-KR" altLang="en-US" sz="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BC8A90-3EA4-4BD1-969E-EE79BE464E46}"/>
              </a:ext>
            </a:extLst>
          </p:cNvPr>
          <p:cNvSpPr txBox="1"/>
          <p:nvPr/>
        </p:nvSpPr>
        <p:spPr>
          <a:xfrm>
            <a:off x="1200150" y="4811250"/>
            <a:ext cx="387899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/>
              <a:t>출처 </a:t>
            </a:r>
            <a:r>
              <a:rPr lang="en-US" altLang="ko-KR" sz="600" dirty="0"/>
              <a:t>: </a:t>
            </a:r>
            <a:r>
              <a:rPr lang="ko-KR" altLang="en-US" sz="600" dirty="0"/>
              <a:t>한국전력거래소 전력통계정보시스템 시장참여 설비용량</a:t>
            </a:r>
            <a:r>
              <a:rPr lang="en-US" altLang="ko-KR" sz="600" dirty="0"/>
              <a:t>, </a:t>
            </a:r>
            <a:r>
              <a:rPr lang="ko-KR" altLang="en-US" sz="600" dirty="0"/>
              <a:t>발전원별 발전량</a:t>
            </a:r>
          </a:p>
        </p:txBody>
      </p:sp>
    </p:spTree>
    <p:extLst>
      <p:ext uri="{BB962C8B-B14F-4D97-AF65-F5344CB8AC3E}">
        <p14:creationId xmlns:p14="http://schemas.microsoft.com/office/powerpoint/2010/main" val="1377305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5C13DB-0E0D-43F9-BC9D-68A286844FBE}"/>
              </a:ext>
            </a:extLst>
          </p:cNvPr>
          <p:cNvSpPr txBox="1"/>
          <p:nvPr/>
        </p:nvSpPr>
        <p:spPr>
          <a:xfrm>
            <a:off x="1353830" y="4228647"/>
            <a:ext cx="53677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출처 </a:t>
            </a:r>
            <a:r>
              <a:rPr lang="en-US" altLang="ko-KR" sz="700" dirty="0"/>
              <a:t>: </a:t>
            </a:r>
            <a:r>
              <a:rPr lang="ko-KR" altLang="en-US" sz="700" dirty="0"/>
              <a:t>한국가스공사 </a:t>
            </a:r>
            <a:r>
              <a:rPr lang="en-US" altLang="ko-KR" sz="700" dirty="0"/>
              <a:t>LNG </a:t>
            </a:r>
            <a:r>
              <a:rPr lang="ko-KR" altLang="en-US" sz="700" dirty="0"/>
              <a:t>수입국 연도별 </a:t>
            </a:r>
            <a:r>
              <a:rPr lang="en-US" altLang="ko-KR" sz="700" dirty="0"/>
              <a:t>LNG </a:t>
            </a:r>
            <a:r>
              <a:rPr lang="ko-KR" altLang="en-US" sz="700" dirty="0"/>
              <a:t>단기 거래 비중 변화</a:t>
            </a:r>
            <a:r>
              <a:rPr lang="en-US" altLang="ko-KR" sz="700" dirty="0"/>
              <a:t>(2004-2024)</a:t>
            </a:r>
            <a:endParaRPr lang="ko-KR" altLang="en-US" sz="7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FA545BD-4F2A-4309-8431-4480A921DD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70" b="7977"/>
          <a:stretch/>
        </p:blipFill>
        <p:spPr>
          <a:xfrm>
            <a:off x="1200150" y="1298205"/>
            <a:ext cx="6467784" cy="289731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1DD375B-4571-4226-8D6B-13B77A96FD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0525" b="95708"/>
          <a:stretch/>
        </p:blipFill>
        <p:spPr>
          <a:xfrm>
            <a:off x="1797978" y="1400657"/>
            <a:ext cx="2553128" cy="14383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8458750-9A8D-4312-9FA8-E17B35F906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4030"/>
          <a:stretch/>
        </p:blipFill>
        <p:spPr>
          <a:xfrm>
            <a:off x="1153917" y="1103747"/>
            <a:ext cx="6467784" cy="20005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4F140FF-CEFF-4E7B-8422-4E25EF1876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2370" r="3564"/>
          <a:stretch/>
        </p:blipFill>
        <p:spPr>
          <a:xfrm>
            <a:off x="1344605" y="1080864"/>
            <a:ext cx="6013002" cy="24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90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CC54B9F3-CC9A-471B-BCD6-44F116D02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9" name="_x624171704">
            <a:extLst>
              <a:ext uri="{FF2B5EF4-FFF2-40B4-BE49-F238E27FC236}">
                <a16:creationId xmlns:a16="http://schemas.microsoft.com/office/drawing/2014/main" id="{05F13A5B-BD3F-43F5-8B90-830F7D0043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14" b="4154"/>
          <a:stretch/>
        </p:blipFill>
        <p:spPr bwMode="auto">
          <a:xfrm>
            <a:off x="1200148" y="2993139"/>
            <a:ext cx="5847775" cy="191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29E736-FD9B-4BB5-A537-FD04CD1DCBF5}"/>
              </a:ext>
            </a:extLst>
          </p:cNvPr>
          <p:cNvSpPr txBox="1"/>
          <p:nvPr/>
        </p:nvSpPr>
        <p:spPr>
          <a:xfrm>
            <a:off x="1200148" y="4879623"/>
            <a:ext cx="5781420" cy="2000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출처 </a:t>
            </a:r>
            <a:r>
              <a:rPr lang="en-US" altLang="ko-KR" sz="700" dirty="0"/>
              <a:t>: </a:t>
            </a:r>
            <a:r>
              <a:rPr lang="ko-KR" altLang="en-US" sz="700" dirty="0"/>
              <a:t>아시아 </a:t>
            </a:r>
            <a:r>
              <a:rPr lang="en-US" altLang="ko-KR" sz="700" dirty="0"/>
              <a:t>LNG </a:t>
            </a:r>
            <a:r>
              <a:rPr lang="ko-KR" altLang="en-US" sz="700" dirty="0"/>
              <a:t>현물가격</a:t>
            </a:r>
            <a:r>
              <a:rPr lang="en-US" altLang="ko-KR" sz="700" dirty="0"/>
              <a:t>(JKM) – S&amp;P Global Commodity Insight(Platts), </a:t>
            </a:r>
            <a:r>
              <a:rPr lang="ko-KR" altLang="en-US" sz="700" dirty="0"/>
              <a:t>미국 천연가스 현물가격</a:t>
            </a:r>
            <a:r>
              <a:rPr lang="en-US" altLang="ko-KR" sz="700" dirty="0"/>
              <a:t>(Henry Hub) – </a:t>
            </a:r>
            <a:r>
              <a:rPr lang="ko-KR" altLang="en-US" sz="700" dirty="0"/>
              <a:t>미국 에너지정보청</a:t>
            </a:r>
            <a:r>
              <a:rPr lang="en-US" altLang="ko-KR" sz="700" dirty="0"/>
              <a:t>(EIA)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385467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5" name="_x624184808">
            <a:extLst>
              <a:ext uri="{FF2B5EF4-FFF2-40B4-BE49-F238E27FC236}">
                <a16:creationId xmlns:a16="http://schemas.microsoft.com/office/drawing/2014/main" id="{3022224F-3DF5-4F55-8C0B-1F83AC8D7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883651"/>
            <a:ext cx="5767388" cy="2014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7BB8CE-0830-4F79-9FDE-9C3F0A9AF226}"/>
              </a:ext>
            </a:extLst>
          </p:cNvPr>
          <p:cNvSpPr txBox="1"/>
          <p:nvPr/>
        </p:nvSpPr>
        <p:spPr>
          <a:xfrm>
            <a:off x="1323718" y="2875510"/>
            <a:ext cx="21732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 </a:t>
            </a:r>
            <a:r>
              <a:rPr lang="en-US" altLang="ko-KR" sz="800" dirty="0"/>
              <a:t>: </a:t>
            </a:r>
            <a:r>
              <a:rPr lang="ko-KR" altLang="en-US" sz="700" dirty="0"/>
              <a:t>한국전력거래소</a:t>
            </a:r>
            <a:r>
              <a:rPr lang="ko-KR" altLang="en-US" sz="800" dirty="0"/>
              <a:t> 발전원별 발전량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5F524E-B9B3-4645-856C-6A167009B3A6}"/>
              </a:ext>
            </a:extLst>
          </p:cNvPr>
          <p:cNvSpPr txBox="1"/>
          <p:nvPr/>
        </p:nvSpPr>
        <p:spPr>
          <a:xfrm>
            <a:off x="1385501" y="5029891"/>
            <a:ext cx="30320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출처</a:t>
            </a:r>
            <a:r>
              <a:rPr lang="en-US" altLang="ko-KR" sz="700" dirty="0"/>
              <a:t>: </a:t>
            </a:r>
            <a:r>
              <a:rPr lang="ko-KR" altLang="en-US" sz="700" dirty="0"/>
              <a:t>자체개발 전력수요 예측모델 일기예보 기반 시뮬레이션 결과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E671418-8DB0-4AAA-B08A-2E70244643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80"/>
          <a:stretch/>
        </p:blipFill>
        <p:spPr>
          <a:xfrm>
            <a:off x="1261623" y="3090954"/>
            <a:ext cx="5767388" cy="194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49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_x624185744">
            <a:extLst>
              <a:ext uri="{FF2B5EF4-FFF2-40B4-BE49-F238E27FC236}">
                <a16:creationId xmlns:a16="http://schemas.microsoft.com/office/drawing/2014/main" id="{E3F4F990-4C60-4244-8B51-4F35941EE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530225"/>
            <a:ext cx="5648325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_x624189344">
            <a:extLst>
              <a:ext uri="{FF2B5EF4-FFF2-40B4-BE49-F238E27FC236}">
                <a16:creationId xmlns:a16="http://schemas.microsoft.com/office/drawing/2014/main" id="{5FE95372-434B-4E08-8692-AA98241688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858"/>
          <a:stretch/>
        </p:blipFill>
        <p:spPr bwMode="auto">
          <a:xfrm>
            <a:off x="1126330" y="3046906"/>
            <a:ext cx="5795963" cy="19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A3DC23-B5EB-41B1-92EF-34FA1C53FE71}"/>
              </a:ext>
            </a:extLst>
          </p:cNvPr>
          <p:cNvSpPr txBox="1"/>
          <p:nvPr/>
        </p:nvSpPr>
        <p:spPr>
          <a:xfrm>
            <a:off x="1379948" y="4837654"/>
            <a:ext cx="609322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/>
              <a:t>출처</a:t>
            </a:r>
            <a:r>
              <a:rPr lang="en-US" altLang="ko-KR" sz="700" dirty="0"/>
              <a:t>: </a:t>
            </a:r>
            <a:r>
              <a:rPr lang="ko-KR" altLang="en-US" sz="700" dirty="0"/>
              <a:t>자체 개발 신재생 발전량 예측모델 일기예보 기반 시뮬레이션 결과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129310-8A8A-4872-BD97-EC1DC97B9ECE}"/>
              </a:ext>
            </a:extLst>
          </p:cNvPr>
          <p:cNvSpPr txBox="1"/>
          <p:nvPr/>
        </p:nvSpPr>
        <p:spPr>
          <a:xfrm>
            <a:off x="1282344" y="2442461"/>
            <a:ext cx="53033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출처 </a:t>
            </a:r>
            <a:r>
              <a:rPr lang="en-US" altLang="ko-KR" sz="700" dirty="0"/>
              <a:t>: </a:t>
            </a:r>
            <a:r>
              <a:rPr lang="ko-KR" altLang="en-US" sz="700" dirty="0"/>
              <a:t>기상청</a:t>
            </a:r>
            <a:r>
              <a:rPr lang="en-US" altLang="ko-KR" sz="700" dirty="0"/>
              <a:t> </a:t>
            </a:r>
            <a:r>
              <a:rPr lang="ko-KR" altLang="en-US" sz="700" dirty="0"/>
              <a:t>지상관측자료</a:t>
            </a:r>
            <a:r>
              <a:rPr lang="en-US" altLang="ko-KR" sz="700" dirty="0"/>
              <a:t>(</a:t>
            </a:r>
            <a:r>
              <a:rPr lang="ko-KR" altLang="en-US" sz="700" dirty="0"/>
              <a:t>일사량 및 풍속</a:t>
            </a:r>
            <a:r>
              <a:rPr lang="en-US" altLang="ko-KR" sz="700" dirty="0"/>
              <a:t>), </a:t>
            </a:r>
            <a:r>
              <a:rPr lang="ko-KR" altLang="en-US" sz="700" dirty="0"/>
              <a:t>한국 전력거래소 전력통계정보시스템 시장참여 설비용량</a:t>
            </a:r>
            <a:r>
              <a:rPr lang="en-US" altLang="ko-KR" sz="700" dirty="0"/>
              <a:t>, </a:t>
            </a:r>
            <a:r>
              <a:rPr lang="ko-KR" altLang="en-US" sz="700" dirty="0"/>
              <a:t>발전원별 발전량</a:t>
            </a:r>
            <a:r>
              <a:rPr lang="en-US" altLang="ko-KR" sz="700" dirty="0"/>
              <a:t>(</a:t>
            </a:r>
            <a:r>
              <a:rPr lang="ko-KR" altLang="en-US" sz="700" dirty="0"/>
              <a:t>이용률</a:t>
            </a:r>
            <a:r>
              <a:rPr lang="en-US" altLang="ko-KR" sz="700" dirty="0"/>
              <a:t>)</a:t>
            </a:r>
            <a:endParaRPr lang="ko-KR" altLang="en-US" sz="700" dirty="0"/>
          </a:p>
        </p:txBody>
      </p:sp>
      <p:pic>
        <p:nvPicPr>
          <p:cNvPr id="13" name="_x624189344">
            <a:extLst>
              <a:ext uri="{FF2B5EF4-FFF2-40B4-BE49-F238E27FC236}">
                <a16:creationId xmlns:a16="http://schemas.microsoft.com/office/drawing/2014/main" id="{F98850B0-1B4B-4AA6-9320-C00FDF7F32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92"/>
          <a:stretch/>
        </p:blipFill>
        <p:spPr bwMode="auto">
          <a:xfrm>
            <a:off x="1126330" y="3189393"/>
            <a:ext cx="5795963" cy="1704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665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3459513-5343-4985-9A08-3B224F51A8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387"/>
          <a:stretch/>
        </p:blipFill>
        <p:spPr>
          <a:xfrm>
            <a:off x="1200150" y="3145650"/>
            <a:ext cx="5192820" cy="18968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0F91248-5567-41A0-BA19-3A8C122AD0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4205"/>
          <a:stretch/>
        </p:blipFill>
        <p:spPr>
          <a:xfrm>
            <a:off x="1200150" y="495292"/>
            <a:ext cx="5192820" cy="24266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8A7402-8BEF-401E-9A85-A1A2DA610576}"/>
              </a:ext>
            </a:extLst>
          </p:cNvPr>
          <p:cNvSpPr txBox="1"/>
          <p:nvPr/>
        </p:nvSpPr>
        <p:spPr>
          <a:xfrm>
            <a:off x="1318302" y="2876282"/>
            <a:ext cx="484105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출처 </a:t>
            </a:r>
            <a:r>
              <a:rPr lang="en-US" altLang="ko-KR" sz="700" dirty="0"/>
              <a:t>: </a:t>
            </a:r>
            <a:r>
              <a:rPr lang="ko-KR" altLang="en-US" sz="700" dirty="0"/>
              <a:t>한국가스공사</a:t>
            </a:r>
            <a:r>
              <a:rPr lang="en-US" altLang="ko-KR" sz="700" dirty="0"/>
              <a:t> </a:t>
            </a:r>
            <a:r>
              <a:rPr lang="ko-KR" altLang="en-US" sz="700" dirty="0"/>
              <a:t>발전용 가스 일일 공급량</a:t>
            </a:r>
            <a:r>
              <a:rPr lang="en-US" altLang="ko-KR" sz="700" dirty="0"/>
              <a:t>, </a:t>
            </a:r>
            <a:r>
              <a:rPr lang="ko-KR" altLang="en-US" sz="700" dirty="0"/>
              <a:t> 한국전력거래소 발전원별 발전량</a:t>
            </a:r>
            <a:r>
              <a:rPr lang="en-US" altLang="ko-KR" sz="700" dirty="0"/>
              <a:t>, </a:t>
            </a:r>
            <a:r>
              <a:rPr lang="ko-KR" altLang="en-US" sz="700" dirty="0"/>
              <a:t>기상청 지상관측자료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FBB2F7-6C92-4CAD-B677-4ED7BD9CB43D}"/>
              </a:ext>
            </a:extLst>
          </p:cNvPr>
          <p:cNvSpPr txBox="1"/>
          <p:nvPr/>
        </p:nvSpPr>
        <p:spPr>
          <a:xfrm>
            <a:off x="1322302" y="5011758"/>
            <a:ext cx="47537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출처 </a:t>
            </a:r>
            <a:r>
              <a:rPr lang="en-US" altLang="ko-KR" sz="700" dirty="0"/>
              <a:t>: </a:t>
            </a:r>
            <a:r>
              <a:rPr lang="ko-KR" altLang="en-US" sz="700" dirty="0"/>
              <a:t>한국가스공사</a:t>
            </a:r>
            <a:r>
              <a:rPr lang="en-US" altLang="ko-KR" sz="700" dirty="0"/>
              <a:t> </a:t>
            </a:r>
            <a:r>
              <a:rPr lang="ko-KR" altLang="en-US" sz="700" dirty="0"/>
              <a:t>월별 시도별 도시가스 판매현황</a:t>
            </a:r>
            <a:r>
              <a:rPr lang="en-US" altLang="ko-KR" sz="700" dirty="0"/>
              <a:t>, </a:t>
            </a:r>
            <a:r>
              <a:rPr lang="ko-KR" altLang="en-US" sz="700" dirty="0">
                <a:latin typeface="Consolas" panose="020B0609020204030204" pitchFamily="49" charset="0"/>
              </a:rPr>
              <a:t> 한국가스공사 용도별 월 공급량</a:t>
            </a:r>
            <a:r>
              <a:rPr lang="en-US" altLang="ko-KR" sz="700" dirty="0">
                <a:latin typeface="Consolas" panose="020B0609020204030204" pitchFamily="49" charset="0"/>
              </a:rPr>
              <a:t>, </a:t>
            </a:r>
            <a:r>
              <a:rPr lang="ko-KR" altLang="en-US" sz="700" dirty="0">
                <a:latin typeface="Consolas" panose="020B0609020204030204" pitchFamily="49" charset="0"/>
              </a:rPr>
              <a:t>기상청 지상관측자료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238497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_x624178472">
            <a:extLst>
              <a:ext uri="{FF2B5EF4-FFF2-40B4-BE49-F238E27FC236}">
                <a16:creationId xmlns:a16="http://schemas.microsoft.com/office/drawing/2014/main" id="{227D2D49-4455-4F5D-B99F-161590DE2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327" y="1479479"/>
            <a:ext cx="5027136" cy="194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E94AEE-2622-4421-8B80-EA13CE0C33F8}"/>
              </a:ext>
            </a:extLst>
          </p:cNvPr>
          <p:cNvSpPr txBox="1"/>
          <p:nvPr/>
        </p:nvSpPr>
        <p:spPr>
          <a:xfrm>
            <a:off x="1539961" y="3429000"/>
            <a:ext cx="52774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 </a:t>
            </a:r>
            <a:r>
              <a:rPr lang="en-US" altLang="ko-KR" sz="800" dirty="0"/>
              <a:t>: </a:t>
            </a:r>
            <a:r>
              <a:rPr lang="ko-KR" altLang="en-US" sz="800" dirty="0"/>
              <a:t>자체개발 발전용 가스 송출량 예측모델 일기예보 기반 시뮬레이션 결과</a:t>
            </a:r>
          </a:p>
        </p:txBody>
      </p:sp>
      <p:pic>
        <p:nvPicPr>
          <p:cNvPr id="14337" name="_x850085272">
            <a:extLst>
              <a:ext uri="{FF2B5EF4-FFF2-40B4-BE49-F238E27FC236}">
                <a16:creationId xmlns:a16="http://schemas.microsoft.com/office/drawing/2014/main" id="{9827E87C-FFF5-4ED6-AD02-D86430234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6" r="2028" b="3600"/>
          <a:stretch>
            <a:fillRect/>
          </a:stretch>
        </p:blipFill>
        <p:spPr bwMode="auto">
          <a:xfrm>
            <a:off x="1647022" y="4630706"/>
            <a:ext cx="5610225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CA34BE-F7D0-4AB2-A172-29D85B07EA3A}"/>
              </a:ext>
            </a:extLst>
          </p:cNvPr>
          <p:cNvSpPr txBox="1"/>
          <p:nvPr/>
        </p:nvSpPr>
        <p:spPr>
          <a:xfrm>
            <a:off x="1647022" y="5566329"/>
            <a:ext cx="2051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 </a:t>
            </a:r>
            <a:r>
              <a:rPr lang="en-US" altLang="ko-KR" sz="800" dirty="0"/>
              <a:t>: </a:t>
            </a:r>
            <a:r>
              <a:rPr lang="ko-KR" altLang="en-US" sz="800" dirty="0"/>
              <a:t>기상청 </a:t>
            </a:r>
            <a:r>
              <a:rPr lang="en-US" altLang="ko-KR" sz="800" dirty="0"/>
              <a:t>KIM-</a:t>
            </a:r>
            <a:r>
              <a:rPr lang="ko-KR" altLang="en-US" sz="800" dirty="0"/>
              <a:t>전구 수치모델  </a:t>
            </a:r>
          </a:p>
          <a:p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767253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_x624189416">
            <a:extLst>
              <a:ext uri="{FF2B5EF4-FFF2-40B4-BE49-F238E27FC236}">
                <a16:creationId xmlns:a16="http://schemas.microsoft.com/office/drawing/2014/main" id="{9133078F-DE04-4E77-BD9A-1F5AFAE9E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058862"/>
            <a:ext cx="5624513" cy="427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334F9C-D1B6-48A6-B5C1-0BD4B7243ECD}"/>
              </a:ext>
            </a:extLst>
          </p:cNvPr>
          <p:cNvSpPr txBox="1"/>
          <p:nvPr/>
        </p:nvSpPr>
        <p:spPr>
          <a:xfrm>
            <a:off x="3681572" y="4299457"/>
            <a:ext cx="32055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 </a:t>
            </a:r>
            <a:r>
              <a:rPr lang="en-US" altLang="ko-KR" sz="800" dirty="0"/>
              <a:t>: </a:t>
            </a:r>
            <a:r>
              <a:rPr lang="ko-KR" altLang="en-US" sz="800" dirty="0"/>
              <a:t>국가 가스수급 예측 플랫폼 </a:t>
            </a:r>
            <a:r>
              <a:rPr lang="en-US" altLang="ko-KR" sz="800" dirty="0"/>
              <a:t>(https://gascast.gonetis.com)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978274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_x624180128">
            <a:extLst>
              <a:ext uri="{FF2B5EF4-FFF2-40B4-BE49-F238E27FC236}">
                <a16:creationId xmlns:a16="http://schemas.microsoft.com/office/drawing/2014/main" id="{5FDA25BE-F238-4A92-A1D5-F5059ACED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604962"/>
            <a:ext cx="5661025" cy="364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B3C9CB-27EC-4191-A3ED-62F71D185570}"/>
              </a:ext>
            </a:extLst>
          </p:cNvPr>
          <p:cNvSpPr txBox="1"/>
          <p:nvPr/>
        </p:nvSpPr>
        <p:spPr>
          <a:xfrm>
            <a:off x="1298314" y="1961600"/>
            <a:ext cx="31712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 </a:t>
            </a:r>
            <a:r>
              <a:rPr lang="en-US" altLang="ko-KR" sz="800" dirty="0"/>
              <a:t>: </a:t>
            </a:r>
            <a:r>
              <a:rPr lang="ko-KR" altLang="en-US" sz="800" dirty="0"/>
              <a:t>국가 가스수급 예측 플랫폼 </a:t>
            </a:r>
            <a:r>
              <a:rPr lang="en-US" altLang="ko-KR" sz="800" dirty="0"/>
              <a:t>(https://gascast.gonetis.com)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039373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_x624178328">
            <a:extLst>
              <a:ext uri="{FF2B5EF4-FFF2-40B4-BE49-F238E27FC236}">
                <a16:creationId xmlns:a16="http://schemas.microsoft.com/office/drawing/2014/main" id="{F49CE893-BCEC-427E-B2F9-743009BE7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3" r="1714"/>
          <a:stretch>
            <a:fillRect/>
          </a:stretch>
        </p:blipFill>
        <p:spPr bwMode="auto">
          <a:xfrm>
            <a:off x="1200150" y="3429000"/>
            <a:ext cx="5695950" cy="175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C61E42-1A6E-4624-BD67-85F6EEE844D8}"/>
              </a:ext>
            </a:extLst>
          </p:cNvPr>
          <p:cNvSpPr txBox="1"/>
          <p:nvPr/>
        </p:nvSpPr>
        <p:spPr>
          <a:xfrm>
            <a:off x="3724809" y="4597407"/>
            <a:ext cx="317129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출처 </a:t>
            </a:r>
            <a:r>
              <a:rPr lang="en-US" altLang="ko-KR" sz="700" dirty="0"/>
              <a:t>: </a:t>
            </a:r>
            <a:r>
              <a:rPr lang="ko-KR" altLang="en-US" sz="700" dirty="0"/>
              <a:t>국가 가스수급 예측 플랫폼 </a:t>
            </a:r>
            <a:r>
              <a:rPr lang="en-US" altLang="ko-KR" sz="700" dirty="0"/>
              <a:t>(https://gascast.gonetis.com)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86294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5" name="_x624172640">
            <a:extLst>
              <a:ext uri="{FF2B5EF4-FFF2-40B4-BE49-F238E27FC236}">
                <a16:creationId xmlns:a16="http://schemas.microsoft.com/office/drawing/2014/main" id="{02F436CD-878F-4AE4-8A91-4B8FDD9E1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493838"/>
            <a:ext cx="5807075" cy="387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308581-C089-432E-9D56-5847AC2AA6E2}"/>
              </a:ext>
            </a:extLst>
          </p:cNvPr>
          <p:cNvSpPr txBox="1"/>
          <p:nvPr/>
        </p:nvSpPr>
        <p:spPr>
          <a:xfrm>
            <a:off x="3562255" y="1493837"/>
            <a:ext cx="317129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출처 </a:t>
            </a:r>
            <a:r>
              <a:rPr lang="en-US" altLang="ko-KR" sz="700" dirty="0"/>
              <a:t>: </a:t>
            </a:r>
            <a:r>
              <a:rPr lang="ko-KR" altLang="en-US" sz="700" dirty="0"/>
              <a:t>국가 가스수급 예측 플랫폼 </a:t>
            </a:r>
            <a:r>
              <a:rPr lang="en-US" altLang="ko-KR" sz="700" dirty="0"/>
              <a:t>(https://gascast.gonetis.com)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716949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_x624172352">
            <a:extLst>
              <a:ext uri="{FF2B5EF4-FFF2-40B4-BE49-F238E27FC236}">
                <a16:creationId xmlns:a16="http://schemas.microsoft.com/office/drawing/2014/main" id="{75C85392-5A40-4865-8C45-D8F0C5084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26" b="27965"/>
          <a:stretch>
            <a:fillRect/>
          </a:stretch>
        </p:blipFill>
        <p:spPr bwMode="auto">
          <a:xfrm>
            <a:off x="1200150" y="3975100"/>
            <a:ext cx="5508625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606497-6774-4B4C-878C-2FFAE5A554B3}"/>
              </a:ext>
            </a:extLst>
          </p:cNvPr>
          <p:cNvSpPr txBox="1"/>
          <p:nvPr/>
        </p:nvSpPr>
        <p:spPr>
          <a:xfrm>
            <a:off x="3710536" y="3975100"/>
            <a:ext cx="317129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출처 </a:t>
            </a:r>
            <a:r>
              <a:rPr lang="en-US" altLang="ko-KR" sz="700" dirty="0"/>
              <a:t>: </a:t>
            </a:r>
            <a:r>
              <a:rPr lang="ko-KR" altLang="en-US" sz="700" dirty="0"/>
              <a:t>국가 가스수급 예측 플랫폼 </a:t>
            </a:r>
            <a:r>
              <a:rPr lang="en-US" altLang="ko-KR" sz="700" dirty="0"/>
              <a:t>(https://gascast.gonetis.com)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041315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73579AC-9041-4791-9CBF-A8684E080A9B}"/>
              </a:ext>
            </a:extLst>
          </p:cNvPr>
          <p:cNvSpPr txBox="1"/>
          <p:nvPr/>
        </p:nvSpPr>
        <p:spPr>
          <a:xfrm>
            <a:off x="2675484" y="5116532"/>
            <a:ext cx="25336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 </a:t>
            </a:r>
            <a:r>
              <a:rPr lang="en-US" altLang="ko-KR" sz="800" dirty="0"/>
              <a:t>: </a:t>
            </a:r>
            <a:r>
              <a:rPr lang="ko-KR" altLang="en-US" sz="800" dirty="0"/>
              <a:t>기상청 지상관측자료</a:t>
            </a:r>
            <a:r>
              <a:rPr lang="en-US" altLang="ko-KR" sz="800" dirty="0"/>
              <a:t>, </a:t>
            </a:r>
            <a:r>
              <a:rPr lang="ko-KR" altLang="en-US" sz="800" dirty="0"/>
              <a:t>기상청 수치예보 자료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3B6C1C8-669B-4D36-9DE0-0DB3F20384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56" r="29510" b="9643"/>
          <a:stretch/>
        </p:blipFill>
        <p:spPr>
          <a:xfrm>
            <a:off x="2277172" y="1959429"/>
            <a:ext cx="5383810" cy="315710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4CD3271-EEE4-4674-99EE-D70F4AF0E0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7" t="1288" r="50418" b="91729"/>
          <a:stretch/>
        </p:blipFill>
        <p:spPr>
          <a:xfrm>
            <a:off x="3537892" y="1741468"/>
            <a:ext cx="3342555" cy="29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468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02037A2-C04B-42B5-ACA1-563CC8B7F8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87"/>
          <a:stretch/>
        </p:blipFill>
        <p:spPr>
          <a:xfrm>
            <a:off x="1216610" y="1406178"/>
            <a:ext cx="6823479" cy="356732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6FBF0F8-0597-495A-B4FA-B399F67146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92279"/>
          <a:stretch/>
        </p:blipFill>
        <p:spPr>
          <a:xfrm>
            <a:off x="1216609" y="4973507"/>
            <a:ext cx="6823479" cy="2990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E6942A-F4B5-4114-8C2A-0EC50B59E84F}"/>
              </a:ext>
            </a:extLst>
          </p:cNvPr>
          <p:cNvSpPr txBox="1"/>
          <p:nvPr/>
        </p:nvSpPr>
        <p:spPr>
          <a:xfrm>
            <a:off x="2627939" y="1053961"/>
            <a:ext cx="328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서비스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인프라  고도화 로드맵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59644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257</Words>
  <Application>Microsoft Office PowerPoint</Application>
  <PresentationFormat>와이드스크린</PresentationFormat>
  <Paragraphs>21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범준 김</dc:creator>
  <cp:lastModifiedBy>범준 김</cp:lastModifiedBy>
  <cp:revision>14</cp:revision>
  <dcterms:created xsi:type="dcterms:W3CDTF">2026-07-02T06:22:13Z</dcterms:created>
  <dcterms:modified xsi:type="dcterms:W3CDTF">2026-07-02T10:08:44Z</dcterms:modified>
</cp:coreProperties>
</file>