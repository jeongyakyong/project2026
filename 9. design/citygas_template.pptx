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21FA33-735F-492E-8A66-F4438AA08499}">
  <a:tblStyle styleId="{A521FA33-735F-492E-8A66-F4438AA0849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" y="50292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C36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EB6C3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가스 · 보고서 도식 양식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보고서용 도식 템플릿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흰 배경·맑은 고딕을 따르는 박스·하부항목·화살표·범례 예시 모음입니다. 필요한 조각을 골라 복사해 쓰세요.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281635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566160" y="281635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92240" y="281635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418320" y="281635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080" y="3108960"/>
            <a:ext cx="2286000" cy="914400"/>
          </a:xfrm>
          <a:prstGeom prst="roundRect">
            <a:avLst>
              <a:gd fmla="val 6000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데이터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출처·기간을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여기에 적습니다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566160" y="3108960"/>
            <a:ext cx="22860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단계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어떻게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처리하는지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92240" y="3108960"/>
            <a:ext cx="2286000" cy="914400"/>
          </a:xfrm>
          <a:prstGeom prst="roundRect">
            <a:avLst>
              <a:gd fmla="val 6000" name="adj"/>
            </a:avLst>
          </a:prstGeom>
          <a:solidFill>
            <a:srgbClr val="FDF3EF"/>
          </a:solidFill>
          <a:ln cap="flat" cmpd="sng" w="19050">
            <a:solidFill>
              <a:srgbClr val="EB6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단계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중요한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박스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418320" y="3108960"/>
            <a:ext cx="2286000" cy="914400"/>
          </a:xfrm>
          <a:prstGeom prst="roundRect">
            <a:avLst>
              <a:gd fmla="val 6000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산출물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줄 설명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3"/>
          <p:cNvCxnSpPr/>
          <p:nvPr/>
        </p:nvCxnSpPr>
        <p:spPr>
          <a:xfrm>
            <a:off x="2926080" y="3566160"/>
            <a:ext cx="621792" cy="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" name="Google Shape;28;p3"/>
          <p:cNvSpPr/>
          <p:nvPr/>
        </p:nvSpPr>
        <p:spPr>
          <a:xfrm>
            <a:off x="2999232" y="3474720"/>
            <a:ext cx="475488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5852160" y="3566160"/>
            <a:ext cx="621792" cy="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" name="Google Shape;30;p3"/>
          <p:cNvSpPr/>
          <p:nvPr/>
        </p:nvSpPr>
        <p:spPr>
          <a:xfrm>
            <a:off x="5925312" y="3474720"/>
            <a:ext cx="475488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8778240" y="3566160"/>
            <a:ext cx="621792" cy="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" name="Google Shape;32;p3"/>
          <p:cNvSpPr/>
          <p:nvPr/>
        </p:nvSpPr>
        <p:spPr>
          <a:xfrm>
            <a:off x="640080" y="469087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68680" y="46177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604772" y="469087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833372" y="46177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단계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2816352" y="469087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DF3EF"/>
          </a:solidFill>
          <a:ln cap="flat" cmpd="sng" w="19050">
            <a:solidFill>
              <a:srgbClr val="EB6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3044952" y="46177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장부터: 2장 박스 종류 · 3장 완성형 흐름도(도시가스 예시) · 4장 배치 변형 · 5장 색·글자 값.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보고서용 도식 템플릿 · 산업통상부 공모전 · 2026-06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640080" y="50292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C36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EB6C3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구성요소 · 박스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박스 종류와 하부항목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다섯 가지 종류와, 하부항목 개수(없음·1줄·2줄) 변형입니다.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80644" y="1554480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80644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DB·표·수치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입력/출력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839212" y="1554480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단계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839212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단계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모델·계산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변환 단계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097780" y="1554480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09778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DF3EF"/>
          </a:solidFill>
          <a:ln cap="flat" cmpd="sng" w="19050">
            <a:solidFill>
              <a:srgbClr val="EB6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중요한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박스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356348" y="1554480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356348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9F9FA"/>
          </a:solidFill>
          <a:ln cap="flat" cmpd="sng" w="12700">
            <a:solidFill>
              <a:srgbClr val="BCBD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소스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기관·API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 입력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9614916" y="1554480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614916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적재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874520" y="338328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하부항목 없음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874520" y="3657600"/>
            <a:ext cx="237744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892040" y="338328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하부항목 1줄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892040" y="3657600"/>
            <a:ext cx="2377440" cy="749808"/>
          </a:xfrm>
          <a:prstGeom prst="roundRect">
            <a:avLst>
              <a:gd fmla="val 7317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한 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909560" y="338328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하부항목 2줄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909560" y="3657600"/>
            <a:ext cx="2377440" cy="914400"/>
          </a:xfrm>
          <a:prstGeom prst="roundRect">
            <a:avLst>
              <a:gd fmla="val 6000" name="adj"/>
            </a:avLst>
          </a:prstGeom>
          <a:solidFill>
            <a:srgbClr val="FDF3EF"/>
          </a:solidFill>
          <a:ln cap="flat" cmpd="sng" w="19050">
            <a:solidFill>
              <a:srgbClr val="EB6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첫 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둘째 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80644" y="505663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809244" y="49834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545336" y="505663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1773936" y="49834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단계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2756916" y="505663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DF3EF"/>
          </a:solidFill>
          <a:ln cap="flat" cmpd="sng" w="19050">
            <a:solidFill>
              <a:srgbClr val="EB6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2985516" y="49834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598164" y="505663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9F9FA"/>
          </a:solidFill>
          <a:ln cap="flat" cmpd="sng" w="12700">
            <a:solidFill>
              <a:srgbClr val="BCBD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26764" y="49834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439412" y="505663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668012" y="498348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구성요소 · 박스 · 2026-06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640080" y="50292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C36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EB6C3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도시가스 · 모델 구조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일단위 도시가스 송출량 예측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달마다 실적으로 검증되는 '한 달 수요'를 기온으로 하루 단위까지 내려, 예보 기간(향후 15일)별 송출량을 추정합니다.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48640" y="231343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474720" y="231343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 — 한 달 수요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00800" y="231343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 — 하루로 분해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9326880" y="231343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8640" y="2606040"/>
            <a:ext cx="2286000" cy="914400"/>
          </a:xfrm>
          <a:prstGeom prst="roundRect">
            <a:avLst>
              <a:gd fmla="val 6000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기온 예보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다섯 곳 평균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 15일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474720" y="2606040"/>
            <a:ext cx="22860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수요 예측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달 추위 정도로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달 총량 추정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0" y="2606040"/>
            <a:ext cx="2286000" cy="914400"/>
          </a:xfrm>
          <a:prstGeom prst="roundRect">
            <a:avLst>
              <a:gd fmla="val 6000" name="adj"/>
            </a:avLst>
          </a:prstGeom>
          <a:solidFill>
            <a:srgbClr val="FDF3EF"/>
          </a:solidFill>
          <a:ln cap="flat" cmpd="sng" w="19050">
            <a:solidFill>
              <a:srgbClr val="EB6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하루로 나누기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추운 날 더 많이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주말·공휴일 더 적게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326880" y="2606040"/>
            <a:ext cx="2286000" cy="914400"/>
          </a:xfrm>
          <a:prstGeom prst="roundRect">
            <a:avLst>
              <a:gd fmla="val 6000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일단위 송출량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예보 기간별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매일 예측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5"/>
          <p:cNvCxnSpPr/>
          <p:nvPr/>
        </p:nvCxnSpPr>
        <p:spPr>
          <a:xfrm>
            <a:off x="2834640" y="3063240"/>
            <a:ext cx="621792" cy="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5"/>
          <p:cNvSpPr/>
          <p:nvPr/>
        </p:nvSpPr>
        <p:spPr>
          <a:xfrm>
            <a:off x="2907792" y="2971800"/>
            <a:ext cx="475488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5"/>
          <p:cNvCxnSpPr/>
          <p:nvPr/>
        </p:nvCxnSpPr>
        <p:spPr>
          <a:xfrm>
            <a:off x="5760720" y="3063240"/>
            <a:ext cx="621792" cy="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p5"/>
          <p:cNvSpPr/>
          <p:nvPr/>
        </p:nvSpPr>
        <p:spPr>
          <a:xfrm>
            <a:off x="5678424" y="2971800"/>
            <a:ext cx="786384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총량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5"/>
          <p:cNvCxnSpPr/>
          <p:nvPr/>
        </p:nvCxnSpPr>
        <p:spPr>
          <a:xfrm>
            <a:off x="8686800" y="3063240"/>
            <a:ext cx="621792" cy="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5"/>
          <p:cNvSpPr/>
          <p:nvPr/>
        </p:nvSpPr>
        <p:spPr>
          <a:xfrm>
            <a:off x="548640" y="423367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77240" y="41605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513332" y="423367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1741932" y="41605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단계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2724912" y="423367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FDF3EF"/>
          </a:solidFill>
          <a:ln cap="flat" cmpd="sng" w="19050">
            <a:solidFill>
              <a:srgbClr val="EB6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2953512" y="4160520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과거 월별 실적으로 한 달 예측을 검증(오차 약 4%), 해마다 가장 추웠던 날의 실제 최대 송출량으로 하루 예측을 점검(오차 약 2%).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도시가스 일단위 예측 · 2026-06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640080" y="50292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C36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EB6C36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조립 · 배치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변형과 화살표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흐름을 어떻게 배치하든 같은 박스·화살표 조각을 씁니다.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40080" y="192024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가로 흐름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40080" y="2240280"/>
            <a:ext cx="2103120" cy="868680"/>
          </a:xfrm>
          <a:prstGeom prst="roundRect">
            <a:avLst>
              <a:gd fmla="val 6316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원천 데이터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383280" y="2240280"/>
            <a:ext cx="210312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변환·계산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6"/>
          <p:cNvCxnSpPr/>
          <p:nvPr/>
        </p:nvCxnSpPr>
        <p:spPr>
          <a:xfrm>
            <a:off x="2743200" y="2674620"/>
            <a:ext cx="621792" cy="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" name="Google Shape;116;p6"/>
          <p:cNvSpPr/>
          <p:nvPr/>
        </p:nvSpPr>
        <p:spPr>
          <a:xfrm>
            <a:off x="2816352" y="2583180"/>
            <a:ext cx="475488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949440" y="192024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949440" y="2423160"/>
            <a:ext cx="201168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900" lIns="88900" spcFirstLastPara="1" rIns="88900" wrap="square" tIns="889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단계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갈래로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9692640" y="1874520"/>
            <a:ext cx="1828800" cy="640080"/>
          </a:xfrm>
          <a:prstGeom prst="roundRect">
            <a:avLst>
              <a:gd fmla="val 8571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갈래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9692640" y="2788920"/>
            <a:ext cx="1828800" cy="640080"/>
          </a:xfrm>
          <a:prstGeom prst="roundRect">
            <a:avLst>
              <a:gd fmla="val 8571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갈래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6"/>
          <p:cNvCxnSpPr/>
          <p:nvPr/>
        </p:nvCxnSpPr>
        <p:spPr>
          <a:xfrm flipH="1" rot="10800000">
            <a:off x="8961120" y="2194560"/>
            <a:ext cx="713232" cy="61722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6"/>
          <p:cNvCxnSpPr/>
          <p:nvPr/>
        </p:nvCxnSpPr>
        <p:spPr>
          <a:xfrm>
            <a:off x="8961120" y="2811780"/>
            <a:ext cx="713232" cy="29718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" name="Google Shape;123;p6"/>
          <p:cNvSpPr/>
          <p:nvPr/>
        </p:nvSpPr>
        <p:spPr>
          <a:xfrm>
            <a:off x="640080" y="406908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세로 흐름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40080" y="4389120"/>
            <a:ext cx="2103120" cy="640080"/>
          </a:xfrm>
          <a:prstGeom prst="roundRect">
            <a:avLst>
              <a:gd fmla="val 8571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 단계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40080" y="5486400"/>
            <a:ext cx="2103120" cy="640080"/>
          </a:xfrm>
          <a:prstGeom prst="roundRect">
            <a:avLst>
              <a:gd fmla="val 8571" name="adj"/>
            </a:avLst>
          </a:prstGeom>
          <a:solidFill>
            <a:srgbClr val="FDF3EF"/>
          </a:solidFill>
          <a:ln cap="flat" cmpd="sng" w="19050">
            <a:solidFill>
              <a:srgbClr val="EB6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아래 단계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6"/>
          <p:cNvCxnSpPr/>
          <p:nvPr/>
        </p:nvCxnSpPr>
        <p:spPr>
          <a:xfrm>
            <a:off x="1691640" y="5029200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" name="Google Shape;127;p6"/>
          <p:cNvSpPr/>
          <p:nvPr/>
        </p:nvSpPr>
        <p:spPr>
          <a:xfrm>
            <a:off x="3931920" y="406908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화살표 모양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931920" y="4480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있는 화살표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6492240" y="4617720"/>
            <a:ext cx="1371600" cy="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" name="Google Shape;130;p6"/>
          <p:cNvSpPr/>
          <p:nvPr/>
        </p:nvSpPr>
        <p:spPr>
          <a:xfrm>
            <a:off x="6940296" y="4526280"/>
            <a:ext cx="475488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931920" y="5029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없는 화살표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6"/>
          <p:cNvCxnSpPr/>
          <p:nvPr/>
        </p:nvCxnSpPr>
        <p:spPr>
          <a:xfrm>
            <a:off x="6492240" y="5166360"/>
            <a:ext cx="1371600" cy="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p6"/>
          <p:cNvSpPr/>
          <p:nvPr/>
        </p:nvSpPr>
        <p:spPr>
          <a:xfrm>
            <a:off x="3931920" y="55778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점선 화살표(보조 흐름)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6"/>
          <p:cNvCxnSpPr/>
          <p:nvPr/>
        </p:nvCxnSpPr>
        <p:spPr>
          <a:xfrm>
            <a:off x="6492240" y="5715000"/>
            <a:ext cx="1371600" cy="0"/>
          </a:xfrm>
          <a:prstGeom prst="straightConnector1">
            <a:avLst/>
          </a:prstGeom>
          <a:noFill/>
          <a:ln cap="flat" cmpd="sng" w="12700">
            <a:solidFill>
              <a:srgbClr val="4F5D75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35" name="Google Shape;135;p6"/>
          <p:cNvSpPr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조립 · 배치 · 2026-06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640080" y="50292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C36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EB6C3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 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0080" y="74980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색과 글자 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그대로 입력해 쓰는 색 코드와 글자 크기입니다. 글꼴은 맑은 고딕.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40080" y="1828800"/>
            <a:ext cx="365760" cy="365760"/>
          </a:xfrm>
          <a:prstGeom prst="roundRect">
            <a:avLst>
              <a:gd fmla="val 12500" name="adj"/>
            </a:avLst>
          </a:prstGeom>
          <a:solidFill>
            <a:srgbClr val="EB6C36"/>
          </a:solidFill>
          <a:ln cap="flat" cmpd="sng" w="12700">
            <a:solidFill>
              <a:srgbClr val="EB6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143000" y="18288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#EB6C36  </a:t>
            </a:r>
            <a:r>
              <a:rPr b="0" i="0" lang="en-US" sz="11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accent · 강조/핵심 테두리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40080" y="2377440"/>
            <a:ext cx="365760" cy="365760"/>
          </a:xfrm>
          <a:prstGeom prst="roundRect">
            <a:avLst>
              <a:gd fmla="val 12500" name="adj"/>
            </a:avLst>
          </a:prstGeom>
          <a:solidFill>
            <a:srgbClr val="2D3142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143000" y="2377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#2D3142  </a:t>
            </a:r>
            <a:r>
              <a:rPr b="0" i="0" lang="en-US" sz="11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ink · 처리 단계 테두리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" y="2926080"/>
            <a:ext cx="365760" cy="365760"/>
          </a:xfrm>
          <a:prstGeom prst="roundRect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1143000" y="29260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#1A1A1A  </a:t>
            </a:r>
            <a:r>
              <a:rPr b="0" i="0" lang="en-US" sz="11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text · 본문 글자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40080" y="3474720"/>
            <a:ext cx="365760" cy="365760"/>
          </a:xfrm>
          <a:prstGeom prst="roundRect">
            <a:avLst>
              <a:gd fmla="val 12500" name="adj"/>
            </a:avLst>
          </a:prstGeom>
          <a:solidFill>
            <a:srgbClr val="4F5D75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1143000" y="34747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#4F5D75  </a:t>
            </a:r>
            <a:r>
              <a:rPr b="0" i="0" lang="en-US" sz="11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muted · 하부항목·테두리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40080" y="4023360"/>
            <a:ext cx="365760" cy="365760"/>
          </a:xfrm>
          <a:prstGeom prst="roundRect">
            <a:avLst>
              <a:gd fmla="val 12500" name="adj"/>
            </a:avLst>
          </a:prstGeom>
          <a:solidFill>
            <a:srgbClr val="7A8399"/>
          </a:solidFill>
          <a:ln cap="flat" cmpd="sng" w="12700">
            <a:solidFill>
              <a:srgbClr val="7A8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143000" y="40233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#7A8399  </a:t>
            </a:r>
            <a:r>
              <a:rPr b="0" i="0" lang="en-US" sz="11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soft · 열 제목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0080" y="4572000"/>
            <a:ext cx="365760" cy="365760"/>
          </a:xfrm>
          <a:prstGeom prst="roundRect">
            <a:avLst>
              <a:gd fmla="val 12500" name="adj"/>
            </a:avLst>
          </a:prstGeom>
          <a:solidFill>
            <a:srgbClr val="F4F5F6"/>
          </a:solidFill>
          <a:ln cap="flat" cmpd="sng" w="12700">
            <a:solidFill>
              <a:srgbClr val="4F5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143000" y="4572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#F4F5F6  </a:t>
            </a:r>
            <a:r>
              <a:rPr b="0" i="0" lang="en-US" sz="11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store · 데이터 박스 채움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40080" y="5120640"/>
            <a:ext cx="365760" cy="365760"/>
          </a:xfrm>
          <a:prstGeom prst="roundRect">
            <a:avLst>
              <a:gd fmla="val 12500" name="adj"/>
            </a:avLst>
          </a:prstGeom>
          <a:solidFill>
            <a:srgbClr val="FDF3EF"/>
          </a:solidFill>
          <a:ln cap="flat" cmpd="sng" w="12700">
            <a:solidFill>
              <a:srgbClr val="EB6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143000" y="5120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#FDF3EF  </a:t>
            </a:r>
            <a:r>
              <a:rPr b="0" i="0" lang="en-US" sz="1100" u="none" cap="none" strike="noStrike">
                <a:solidFill>
                  <a:srgbClr val="4F5D75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accentTint · 핵심 박스 채움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399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7A839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글자 크기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" name="Google Shape;159;p7"/>
          <p:cNvGraphicFramePr/>
          <p:nvPr/>
        </p:nvGraphicFramePr>
        <p:xfrm>
          <a:off x="658368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{A521FA33-735F-492E-8A66-F4438AA08499}</a:tableStyleId>
              </a:tblPr>
              <a:tblGrid>
                <a:gridCol w="1737350"/>
                <a:gridCol w="32004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윗머리(eyebrow)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10pt · 굵게 · 자간 넓게 · accent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제목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26pt · 굵게 · text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소제목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12pt · text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박스 제목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13pt · 굵게 · text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하부항목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9.5pt · muted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열 제목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9pt · 굵게 · soft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주석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10pt · muted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꼬리말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8.5pt · 자간 넓게 · text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7"/>
          <p:cNvSpPr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 값 · 색·글자 · 2026-06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