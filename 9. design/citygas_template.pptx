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FA33-735F-492E-8A66-F4438AA08499}">
  <a:tblStyle styleId="{A521FA33-735F-492E-8A66-F4438AA0849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9" y="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" name="Google Shape;4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40080" y="50292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C36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EB6C3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가스 · 보고서 도식 양식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Malgun Gothic"/>
              <a:buNone/>
            </a:pPr>
            <a:r>
              <a:rPr lang="en-US" sz="26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보고서용 도식 템플릿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 배경·맑은 고딕을 따르는 박스·하부항목·화살표·범례 예시 모음입니다. 필요한 조각을 골라 복사해 쓰세요.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281635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566160" y="281635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92240" y="281635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418320" y="281635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640080" y="31089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 데이터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출처·기간을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여기에 적습니다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3566160" y="31089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어떻게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처리하는지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6492240" y="31089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중요한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박스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9418320" y="31089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산출물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줄 설명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2926080" y="356616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8" name="Google Shape;28;p3"/>
          <p:cNvSpPr/>
          <p:nvPr/>
        </p:nvSpPr>
        <p:spPr>
          <a:xfrm>
            <a:off x="2999232" y="3474720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3"/>
          <p:cNvCxnSpPr/>
          <p:nvPr/>
        </p:nvCxnSpPr>
        <p:spPr>
          <a:xfrm>
            <a:off x="5852160" y="356616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" name="Google Shape;30;p3"/>
          <p:cNvSpPr/>
          <p:nvPr/>
        </p:nvSpPr>
        <p:spPr>
          <a:xfrm>
            <a:off x="5925312" y="3474720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p3"/>
          <p:cNvCxnSpPr/>
          <p:nvPr/>
        </p:nvCxnSpPr>
        <p:spPr>
          <a:xfrm>
            <a:off x="8778240" y="356616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2" name="Google Shape;32;p3"/>
          <p:cNvSpPr/>
          <p:nvPr/>
        </p:nvSpPr>
        <p:spPr>
          <a:xfrm>
            <a:off x="640080" y="46908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868680" y="46177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1604772" y="46908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/>
          <p:nvPr/>
        </p:nvSpPr>
        <p:spPr>
          <a:xfrm>
            <a:off x="1833372" y="46177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3"/>
          <p:cNvSpPr/>
          <p:nvPr/>
        </p:nvSpPr>
        <p:spPr>
          <a:xfrm>
            <a:off x="2816352" y="46908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"/>
          <p:cNvSpPr/>
          <p:nvPr/>
        </p:nvSpPr>
        <p:spPr>
          <a:xfrm>
            <a:off x="3044952" y="46177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장부터: 2장 박스 종류 · 3장 완성형 흐름도(도시가스 예시) · 4장 배치 변형 · 5장 색·글자 값.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보고서용 도식 템플릿 · 산업통상부 공모전 · 2026-06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"/>
          <p:cNvSpPr/>
          <p:nvPr/>
        </p:nvSpPr>
        <p:spPr>
          <a:xfrm>
            <a:off x="640080" y="50292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C36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EB6C3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구성요소 · 박스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Malgun Gothic"/>
              <a:buNone/>
            </a:pPr>
            <a:r>
              <a:rPr lang="en-US" sz="26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박스 종류와 하부항목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다섯 가지 종류와, 하부항목 개수(없음·1줄·2줄) 변형입니다.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580644" y="1554480"/>
            <a:ext cx="19659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580644" y="18288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DB·표·수치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입력/출력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2839212" y="1554480"/>
            <a:ext cx="19659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2839212" y="18288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모델·계산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변환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5097780" y="1554480"/>
            <a:ext cx="19659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5097780" y="18288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중요한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강조 박스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7356348" y="1554480"/>
            <a:ext cx="19659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7356348" y="18288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9F9FA"/>
          </a:solidFill>
          <a:ln w="12700" cap="flat" cmpd="sng">
            <a:solidFill>
              <a:srgbClr val="BCBDC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 소스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 기관·API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참고 입력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9614916" y="1554480"/>
            <a:ext cx="19659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9614916" y="18288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저장소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적재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1874520" y="338328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하부항목 없음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1874520" y="365760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제목만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4892040" y="338328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하부항목 1줄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892040" y="365760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설명 한 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7909560" y="338328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하부항목 2줄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7909560" y="36576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설명 첫 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설명 둘째 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580644" y="505663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809244" y="498348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1545336" y="505663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1773936" y="498348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2756916" y="505663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2985516" y="498348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3598164" y="505663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9F9FA"/>
          </a:solidFill>
          <a:ln w="12700" cap="flat" cmpd="sng">
            <a:solidFill>
              <a:srgbClr val="BCBDC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3826764" y="498348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4439412" y="505663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4668012" y="498348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구성요소 · 박스 · 2026-06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/>
          <p:nvPr/>
        </p:nvSpPr>
        <p:spPr>
          <a:xfrm>
            <a:off x="640080" y="50292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C36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EB6C3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도시가스 · 모델 구조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Malgun Gothic"/>
              <a:buNone/>
            </a:pPr>
            <a:r>
              <a:rPr lang="en-US" sz="26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일단위 도시가스 송출량 예측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달마다 실적으로 검증되는 '한 달 수요'를 기온으로 하루 단위까지 내려, 예보 기간(향후 15일)별 송출량을 추정합니다.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548640" y="231343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3474720" y="231343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1단계 — 한 달 수요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400800" y="231343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2단계 — 하루로 분해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9326880" y="2313432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548640" y="26060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기온 예보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다섯 곳 평균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향후 15일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3474720" y="26060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 수요 예측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달 추위 정도로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달 총량 추정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6400800" y="26060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하루로 나누기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추운 날 더 많이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주말·공휴일 더 적게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9326880" y="26060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일단위 송출량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예보 기간별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매일 예측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1" name="Google Shape;91;p5"/>
          <p:cNvCxnSpPr/>
          <p:nvPr/>
        </p:nvCxnSpPr>
        <p:spPr>
          <a:xfrm>
            <a:off x="2834640" y="306324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92" name="Google Shape;92;p5"/>
          <p:cNvSpPr/>
          <p:nvPr/>
        </p:nvSpPr>
        <p:spPr>
          <a:xfrm>
            <a:off x="2907792" y="2971800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추위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p5"/>
          <p:cNvCxnSpPr/>
          <p:nvPr/>
        </p:nvCxnSpPr>
        <p:spPr>
          <a:xfrm>
            <a:off x="5760720" y="306324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94" name="Google Shape;94;p5"/>
          <p:cNvSpPr/>
          <p:nvPr/>
        </p:nvSpPr>
        <p:spPr>
          <a:xfrm>
            <a:off x="5678424" y="2971800"/>
            <a:ext cx="786384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 총량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5"/>
          <p:cNvCxnSpPr/>
          <p:nvPr/>
        </p:nvCxnSpPr>
        <p:spPr>
          <a:xfrm>
            <a:off x="8686800" y="306324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96" name="Google Shape;96;p5"/>
          <p:cNvSpPr/>
          <p:nvPr/>
        </p:nvSpPr>
        <p:spPr>
          <a:xfrm>
            <a:off x="548640" y="42336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777240" y="41605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1513332" y="42336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1741932" y="41605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 단계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2724912" y="4233672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2953512" y="4160520"/>
            <a:ext cx="128016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* 과거 월별 실적으로 한 달 예측을 검증(오차 약 4%), 해마다 가장 추웠던 날의 실제 최대 송출량으로 하루 예측을 점검(오차 약 2%).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도시가스 일단위 예측 · 2026-06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"/>
          <p:cNvSpPr/>
          <p:nvPr/>
        </p:nvSpPr>
        <p:spPr>
          <a:xfrm>
            <a:off x="640080" y="50292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C36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EB6C36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조립 · 배치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Malgun Gothic"/>
              <a:buNone/>
            </a:pPr>
            <a:r>
              <a:rPr lang="en-US" sz="26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변형과 화살표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흐름을 어떻게 배치하든 같은 박스·화살표 조각을 씁니다.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640080" y="1920240"/>
            <a:ext cx="4572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 흐름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40080" y="224028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원천 데이터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3383280" y="224028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변환·계산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" name="Google Shape;115;p6"/>
          <p:cNvCxnSpPr/>
          <p:nvPr/>
        </p:nvCxnSpPr>
        <p:spPr>
          <a:xfrm>
            <a:off x="2743200" y="2674620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16" name="Google Shape;116;p6"/>
          <p:cNvSpPr/>
          <p:nvPr/>
        </p:nvSpPr>
        <p:spPr>
          <a:xfrm>
            <a:off x="2816352" y="2583180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전달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6949440" y="1920240"/>
            <a:ext cx="4572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분기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6949440" y="242316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갈래로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9692640" y="187452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갈래 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9692640" y="278892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갈래 B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6"/>
          <p:cNvCxnSpPr/>
          <p:nvPr/>
        </p:nvCxnSpPr>
        <p:spPr>
          <a:xfrm rot="10800000" flipH="1">
            <a:off x="8961120" y="2194560"/>
            <a:ext cx="713232" cy="61722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22" name="Google Shape;122;p6"/>
          <p:cNvCxnSpPr/>
          <p:nvPr/>
        </p:nvCxnSpPr>
        <p:spPr>
          <a:xfrm>
            <a:off x="8961120" y="2811780"/>
            <a:ext cx="713232" cy="29718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3" name="Google Shape;123;p6"/>
          <p:cNvSpPr/>
          <p:nvPr/>
        </p:nvSpPr>
        <p:spPr>
          <a:xfrm>
            <a:off x="640080" y="4069080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세로 흐름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40080" y="438912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40080" y="548640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DF3EF"/>
          </a:solidFill>
          <a:ln w="1905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 단계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1691640" y="5029200"/>
            <a:ext cx="0" cy="438912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27" name="Google Shape;127;p6"/>
          <p:cNvSpPr/>
          <p:nvPr/>
        </p:nvSpPr>
        <p:spPr>
          <a:xfrm>
            <a:off x="3931920" y="4069080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화살표 모양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3931920" y="44805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있는 화살표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9" name="Google Shape;129;p6"/>
          <p:cNvCxnSpPr/>
          <p:nvPr/>
        </p:nvCxnSpPr>
        <p:spPr>
          <a:xfrm>
            <a:off x="6492240" y="4617720"/>
            <a:ext cx="1371600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0" name="Google Shape;130;p6"/>
          <p:cNvSpPr/>
          <p:nvPr/>
        </p:nvSpPr>
        <p:spPr>
          <a:xfrm>
            <a:off x="6940296" y="4526280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3931920" y="50292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없는 화살표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p6"/>
          <p:cNvCxnSpPr/>
          <p:nvPr/>
        </p:nvCxnSpPr>
        <p:spPr>
          <a:xfrm>
            <a:off x="6492240" y="5166360"/>
            <a:ext cx="1371600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33" name="Google Shape;133;p6"/>
          <p:cNvSpPr/>
          <p:nvPr/>
        </p:nvSpPr>
        <p:spPr>
          <a:xfrm>
            <a:off x="3931920" y="55778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점선 화살표(보조 흐름)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4" name="Google Shape;134;p6"/>
          <p:cNvCxnSpPr/>
          <p:nvPr/>
        </p:nvCxnSpPr>
        <p:spPr>
          <a:xfrm>
            <a:off x="6492240" y="5715000"/>
            <a:ext cx="1371600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135" name="Google Shape;135;p6"/>
          <p:cNvSpPr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조립 · 배치 · 2026-06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"/>
          <p:cNvSpPr/>
          <p:nvPr/>
        </p:nvSpPr>
        <p:spPr>
          <a:xfrm>
            <a:off x="640080" y="50292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C36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EB6C36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값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64008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Malgun Gothic"/>
              <a:buNone/>
            </a:pPr>
            <a:r>
              <a:rPr lang="en-US" sz="26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색과 글자 값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그대로 입력해 쓰는 색 코드와 글자 크기입니다. 글꼴은 맑은 고딕.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640080" y="18288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B6C36"/>
          </a:solidFill>
          <a:ln w="1270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1143000" y="18288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#EB6C36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accent · 강조/핵심 테두리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640080" y="23774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D3142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1143000" y="23774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#2D3142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ink · 처리 단계 테두리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640080" y="2926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1A1A1A"/>
          </a:solidFill>
          <a:ln w="12700" cap="flat" cmpd="sng">
            <a:solidFill>
              <a:srgbClr val="1A1A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1143000" y="29260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#1A1A1A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text · 본문 글자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4008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F5D75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1143000" y="347472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#4F5D75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muted · 하부항목·테두리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640080" y="40233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7A8399"/>
          </a:solidFill>
          <a:ln w="12700" cap="flat" cmpd="sng">
            <a:solidFill>
              <a:srgbClr val="7A83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43000" y="40233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#7A8399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soft · 열 제목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640080" y="45720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1143000" y="4572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#F4F5F6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store · 데이터 박스 채움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40080" y="5120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DF3EF"/>
          </a:solidFill>
          <a:ln w="12700" cap="flat" cmpd="sng">
            <a:solidFill>
              <a:srgbClr val="EB6C3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1143000" y="51206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#FDF3EF  </a:t>
            </a:r>
            <a:r>
              <a:rPr lang="en-US" sz="11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accentTint · 핵심 박스 채움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6583680" y="16002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12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글자 크기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9" name="Google Shape;159;p7"/>
          <p:cNvGraphicFramePr/>
          <p:nvPr/>
        </p:nvGraphicFramePr>
        <p:xfrm>
          <a:off x="6583680" y="1965960"/>
          <a:ext cx="4937750" cy="3072400"/>
        </p:xfrm>
        <a:graphic>
          <a:graphicData uri="http://schemas.openxmlformats.org/drawingml/2006/table">
            <a:tbl>
              <a:tblPr>
                <a:noFill/>
                <a:tableStyleId>{A521FA33-735F-492E-8A66-F4438AA08499}</a:tableStyleId>
              </a:tblPr>
              <a:tblGrid>
                <a:gridCol w="173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윗머리(eyebrow)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10pt · 굵게 · 자간 넓게 · accent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제목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26pt · 굵게 · text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소제목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12pt · text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박스 제목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13pt · 굵게 · text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하부항목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9.5pt · muted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열 제목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9pt · 굵게 · soft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주석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10pt · muted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꼬리말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100"/>
                        <a:buFont typeface="Malgun Gothic"/>
                        <a:buNone/>
                      </a:pPr>
                      <a:r>
                        <a:rPr lang="en-US" sz="1100" u="none" strike="noStrike" cap="none">
                          <a:solidFill>
                            <a:srgbClr val="1A1A1A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8.5pt · 자간 넓게 · text</a:t>
                      </a:r>
                      <a:endParaRPr sz="11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6E6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0" name="Google Shape;160;p7"/>
          <p:cNvSpPr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값 · 색·글자 · 2026-06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0829DF8D-F997-403D-A70D-4082DFA27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6274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1025" name="_x666708848">
            <a:extLst>
              <a:ext uri="{FF2B5EF4-FFF2-40B4-BE49-F238E27FC236}">
                <a16:creationId xmlns:a16="http://schemas.microsoft.com/office/drawing/2014/main" id="{C36F0592-AB3C-497D-A476-12F27B235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89" y="69742"/>
            <a:ext cx="10106450" cy="113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4;p3">
            <a:extLst>
              <a:ext uri="{FF2B5EF4-FFF2-40B4-BE49-F238E27FC236}">
                <a16:creationId xmlns:a16="http://schemas.microsoft.com/office/drawing/2014/main" id="{C017917B-0E98-408D-AA7F-D9E0DA0A77FE}"/>
              </a:ext>
            </a:extLst>
          </p:cNvPr>
          <p:cNvSpPr/>
          <p:nvPr/>
        </p:nvSpPr>
        <p:spPr>
          <a:xfrm>
            <a:off x="200467" y="2971799"/>
            <a:ext cx="3610168" cy="19870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b="1" dirty="0"/>
              <a:t>RAW </a:t>
            </a:r>
            <a:r>
              <a:rPr lang="ko-KR" altLang="en-US" sz="1600" b="1" dirty="0"/>
              <a:t>데이터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가공 전</a:t>
            </a:r>
            <a:r>
              <a:rPr lang="en-US" altLang="ko-KR" sz="1600" b="1" dirty="0"/>
              <a:t>)</a:t>
            </a: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endParaRPr lang="en-US" altLang="ko-KR" sz="1600" b="1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전력거래소 </a:t>
            </a:r>
            <a:r>
              <a:rPr lang="en-US" altLang="ko-KR" sz="1600" dirty="0"/>
              <a:t>- wide, long </a:t>
            </a:r>
            <a:r>
              <a:rPr lang="ko-KR" altLang="en-US" sz="1600" dirty="0"/>
              <a:t>형식 혼재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기상청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예보원</a:t>
            </a:r>
            <a:r>
              <a:rPr lang="en-US" altLang="ko-KR" sz="1600" dirty="0"/>
              <a:t>, </a:t>
            </a:r>
            <a:r>
              <a:rPr lang="ko-KR" altLang="en-US" sz="1600" dirty="0"/>
              <a:t>시간별</a:t>
            </a:r>
            <a:r>
              <a:rPr lang="en-US" altLang="ko-KR" sz="1600" dirty="0"/>
              <a:t>, </a:t>
            </a:r>
            <a:r>
              <a:rPr lang="ko-KR" altLang="en-US" sz="1600" dirty="0"/>
              <a:t>지점별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가스공사 </a:t>
            </a:r>
            <a:r>
              <a:rPr lang="en-US" altLang="ko-KR" sz="1600" dirty="0"/>
              <a:t>- </a:t>
            </a:r>
            <a:r>
              <a:rPr lang="ko-KR" altLang="en-US" sz="1600" dirty="0"/>
              <a:t>일간</a:t>
            </a:r>
            <a:r>
              <a:rPr lang="en-US" altLang="ko-KR" sz="1600" dirty="0"/>
              <a:t>, </a:t>
            </a:r>
            <a:r>
              <a:rPr lang="ko-KR" altLang="en-US" sz="1600" dirty="0"/>
              <a:t>월간데이터 혼재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 API </a:t>
            </a:r>
            <a:r>
              <a:rPr lang="ko-KR" altLang="en-US" sz="1600" dirty="0"/>
              <a:t>호출 </a:t>
            </a:r>
            <a:r>
              <a:rPr lang="en-US" altLang="ko-KR" sz="1600" dirty="0"/>
              <a:t>– </a:t>
            </a:r>
            <a:r>
              <a:rPr lang="ko-KR" altLang="en-US" sz="1600" dirty="0"/>
              <a:t>주소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목록 혼재 </a:t>
            </a:r>
            <a:endParaRPr lang="ko-KR" altLang="en-US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30;p3">
            <a:extLst>
              <a:ext uri="{FF2B5EF4-FFF2-40B4-BE49-F238E27FC236}">
                <a16:creationId xmlns:a16="http://schemas.microsoft.com/office/drawing/2014/main" id="{7DDCB53D-6949-4CD7-BF12-8B0BABC1F37F}"/>
              </a:ext>
            </a:extLst>
          </p:cNvPr>
          <p:cNvSpPr/>
          <p:nvPr/>
        </p:nvSpPr>
        <p:spPr>
          <a:xfrm>
            <a:off x="5858256" y="1909446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;p3">
            <a:extLst>
              <a:ext uri="{FF2B5EF4-FFF2-40B4-BE49-F238E27FC236}">
                <a16:creationId xmlns:a16="http://schemas.microsoft.com/office/drawing/2014/main" id="{62D0B6B9-9C79-4040-90C4-21BE537DBB68}"/>
              </a:ext>
            </a:extLst>
          </p:cNvPr>
          <p:cNvSpPr/>
          <p:nvPr/>
        </p:nvSpPr>
        <p:spPr>
          <a:xfrm>
            <a:off x="5005757" y="2415243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;p3">
            <a:extLst>
              <a:ext uri="{FF2B5EF4-FFF2-40B4-BE49-F238E27FC236}">
                <a16:creationId xmlns:a16="http://schemas.microsoft.com/office/drawing/2014/main" id="{F40E001A-5EF4-4F19-8819-11358588068B}"/>
              </a:ext>
            </a:extLst>
          </p:cNvPr>
          <p:cNvSpPr/>
          <p:nvPr/>
        </p:nvSpPr>
        <p:spPr>
          <a:xfrm>
            <a:off x="1467734" y="594360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 dirty="0" err="1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r>
              <a:rPr lang="en-US" sz="1300" b="1" i="0" u="none" strike="noStrike" cap="none" dirty="0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</a:t>
            </a:r>
            <a:r>
              <a:rPr lang="en-US" sz="950" b="0" i="0" u="none" strike="noStrike" cap="none" dirty="0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어떻게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처리하는지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4;p3">
            <a:extLst>
              <a:ext uri="{FF2B5EF4-FFF2-40B4-BE49-F238E27FC236}">
                <a16:creationId xmlns:a16="http://schemas.microsoft.com/office/drawing/2014/main" id="{BCA412BE-2D72-48DE-960F-C5CE6656AD75}"/>
              </a:ext>
            </a:extLst>
          </p:cNvPr>
          <p:cNvSpPr/>
          <p:nvPr/>
        </p:nvSpPr>
        <p:spPr>
          <a:xfrm>
            <a:off x="4174513" y="2971783"/>
            <a:ext cx="3610168" cy="198706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ko-KR" altLang="en-US" sz="1600" b="1" dirty="0"/>
              <a:t>데이터 </a:t>
            </a:r>
            <a:r>
              <a:rPr lang="ko-KR" altLang="en-US" sz="1600" b="1" dirty="0" err="1"/>
              <a:t>전처리</a:t>
            </a:r>
            <a:endParaRPr lang="en-US" altLang="ko-KR" sz="1600" b="1" dirty="0"/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endParaRPr lang="en-US" altLang="ko-KR" sz="1600" b="1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시계열 데이터로 변환 및 형식 통일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결측</a:t>
            </a:r>
            <a:r>
              <a:rPr lang="en-US" altLang="ko-KR" sz="1600" dirty="0"/>
              <a:t>, </a:t>
            </a:r>
            <a:r>
              <a:rPr lang="ko-KR" altLang="en-US" sz="1600" dirty="0"/>
              <a:t>이상치 처리 및 저장형식 정리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</a:t>
            </a:r>
            <a:r>
              <a:rPr lang="ko-KR" altLang="en-US" sz="1600" dirty="0"/>
              <a:t> 일간</a:t>
            </a:r>
            <a:r>
              <a:rPr lang="en-US" altLang="ko-KR" sz="1600" dirty="0"/>
              <a:t>, </a:t>
            </a:r>
            <a:r>
              <a:rPr lang="ko-KR" altLang="en-US" sz="1600" dirty="0"/>
              <a:t>월간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조합 및 가공</a:t>
            </a:r>
            <a:endParaRPr lang="en-US" altLang="ko-KR" sz="1600" dirty="0"/>
          </a:p>
          <a:p>
            <a:pPr marL="0" marR="0" lvl="0" indent="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altLang="ko-KR" sz="1600" dirty="0"/>
              <a:t>· </a:t>
            </a:r>
            <a:r>
              <a:rPr lang="ko-KR" altLang="en-US" sz="1600" dirty="0"/>
              <a:t>기능별 함수 가공</a:t>
            </a:r>
            <a:r>
              <a:rPr lang="en-US" altLang="ko-KR" sz="1600" dirty="0"/>
              <a:t>, </a:t>
            </a:r>
            <a:r>
              <a:rPr lang="ko-KR" altLang="en-US" sz="1600" dirty="0"/>
              <a:t>수집기</a:t>
            </a:r>
            <a:r>
              <a:rPr lang="en-US" altLang="ko-KR" sz="1600" dirty="0"/>
              <a:t> </a:t>
            </a:r>
            <a:r>
              <a:rPr lang="ko-KR" altLang="en-US" sz="1600" dirty="0"/>
              <a:t>제작</a:t>
            </a:r>
            <a:endParaRPr lang="ko-KR" altLang="en-US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57;p4">
            <a:extLst>
              <a:ext uri="{FF2B5EF4-FFF2-40B4-BE49-F238E27FC236}">
                <a16:creationId xmlns:a16="http://schemas.microsoft.com/office/drawing/2014/main" id="{32A84FDF-6925-446E-93C8-88A46159C33F}"/>
              </a:ext>
            </a:extLst>
          </p:cNvPr>
          <p:cNvSpPr/>
          <p:nvPr/>
        </p:nvSpPr>
        <p:spPr>
          <a:xfrm>
            <a:off x="8148559" y="2904388"/>
            <a:ext cx="1967822" cy="2054456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ko-KR" altLang="en-US" sz="1600" b="1" dirty="0">
                <a:solidFill>
                  <a:srgbClr val="1A1A1A"/>
                </a:solidFill>
                <a:latin typeface="+mj-lt"/>
                <a:ea typeface="Malgun Gothic"/>
                <a:cs typeface="Calibri"/>
                <a:sym typeface="Malgun Gothic"/>
              </a:rPr>
              <a:t>정제 데이터</a:t>
            </a:r>
            <a:endParaRPr lang="en-US" altLang="ko-KR" sz="1600" b="1" dirty="0">
              <a:solidFill>
                <a:srgbClr val="1A1A1A"/>
              </a:solidFill>
              <a:latin typeface="+mj-lt"/>
              <a:ea typeface="Malgun Gothic"/>
              <a:cs typeface="Calibri"/>
              <a:sym typeface="Malgun Gothic"/>
            </a:endParaRPr>
          </a:p>
          <a:p>
            <a:pPr>
              <a:lnSpc>
                <a:spcPct val="105000"/>
              </a:lnSpc>
              <a:buClr>
                <a:srgbClr val="1A1A1A"/>
              </a:buClr>
              <a:buSzPts val="1300"/>
            </a:pPr>
            <a:endParaRPr lang="en-US" altLang="ko-KR" sz="1600" dirty="0">
              <a:latin typeface="+mj-lt"/>
            </a:endParaRPr>
          </a:p>
          <a:p>
            <a:pPr>
              <a:lnSpc>
                <a:spcPct val="105000"/>
              </a:lnSpc>
              <a:buClr>
                <a:srgbClr val="1A1A1A"/>
              </a:buClr>
              <a:buSzPts val="1300"/>
            </a:pPr>
            <a:r>
              <a:rPr lang="en-US" altLang="ko-KR" sz="1600" dirty="0">
                <a:latin typeface="+mj-lt"/>
              </a:rPr>
              <a:t>· </a:t>
            </a:r>
            <a:r>
              <a:rPr lang="en-US" sz="1600" dirty="0">
                <a:latin typeface="+mj-lt"/>
                <a:sym typeface="Calibri"/>
              </a:rPr>
              <a:t>AI</a:t>
            </a:r>
            <a:r>
              <a:rPr lang="ko-KR" altLang="en-US" sz="1600" dirty="0">
                <a:latin typeface="+mj-lt"/>
                <a:sym typeface="Calibri"/>
              </a:rPr>
              <a:t> 친화데이터</a:t>
            </a:r>
            <a:endParaRPr lang="en-US" altLang="ko-KR" sz="1600" b="1" dirty="0">
              <a:solidFill>
                <a:srgbClr val="1A1A1A"/>
              </a:solidFill>
              <a:latin typeface="+mj-lt"/>
              <a:ea typeface="Malgun Gothic"/>
              <a:cs typeface="Calibri"/>
              <a:sym typeface="Malgun Gothic"/>
            </a:endParaRPr>
          </a:p>
          <a:p>
            <a:pPr>
              <a:lnSpc>
                <a:spcPct val="105000"/>
              </a:lnSpc>
              <a:buClr>
                <a:srgbClr val="1A1A1A"/>
              </a:buClr>
              <a:buSzPts val="1300"/>
            </a:pPr>
            <a:r>
              <a:rPr lang="en-US" altLang="ko-KR" sz="1600" dirty="0">
                <a:latin typeface="+mj-lt"/>
              </a:rPr>
              <a:t>· </a:t>
            </a:r>
            <a:r>
              <a:rPr lang="ko-KR" altLang="en-US" sz="1600" dirty="0">
                <a:latin typeface="+mj-lt"/>
              </a:rPr>
              <a:t>모델 입력데이터</a:t>
            </a:r>
            <a:endParaRPr lang="en-US" altLang="ko-KR" sz="1600" dirty="0">
              <a:latin typeface="+mj-lt"/>
            </a:endParaRPr>
          </a:p>
          <a:p>
            <a:pPr>
              <a:lnSpc>
                <a:spcPct val="105000"/>
              </a:lnSpc>
              <a:buClr>
                <a:srgbClr val="1A1A1A"/>
              </a:buClr>
              <a:buSzPts val="1300"/>
            </a:pPr>
            <a:r>
              <a:rPr lang="en-US" altLang="ko-KR" sz="1600" dirty="0">
                <a:latin typeface="+mj-lt"/>
              </a:rPr>
              <a:t>· </a:t>
            </a:r>
            <a:r>
              <a:rPr lang="ko-KR" altLang="en-US" sz="1600" dirty="0">
                <a:latin typeface="+mj-lt"/>
              </a:rPr>
              <a:t>상관관계 탐색</a:t>
            </a:r>
            <a:endParaRPr lang="en-US" altLang="ko-KR" sz="1600" b="1" dirty="0">
              <a:solidFill>
                <a:srgbClr val="1A1A1A"/>
              </a:solidFill>
              <a:latin typeface="+mj-lt"/>
              <a:ea typeface="Malgun Gothic"/>
              <a:cs typeface="Calibri"/>
              <a:sym typeface="Malgun Gothic"/>
            </a:endParaRPr>
          </a:p>
          <a:p>
            <a:pPr>
              <a:lnSpc>
                <a:spcPct val="105000"/>
              </a:lnSpc>
              <a:buClr>
                <a:srgbClr val="1A1A1A"/>
              </a:buClr>
              <a:buSzPts val="1300"/>
            </a:pPr>
            <a:r>
              <a:rPr lang="en-US" altLang="ko-KR" sz="1600" dirty="0">
                <a:latin typeface="+mj-lt"/>
              </a:rPr>
              <a:t>· </a:t>
            </a:r>
            <a:r>
              <a:rPr lang="ko-KR" altLang="en-US" sz="1600" dirty="0">
                <a:latin typeface="+mj-lt"/>
              </a:rPr>
              <a:t>자동화 수집</a:t>
            </a:r>
            <a:endParaRPr lang="en-US" altLang="ko-KR" sz="1600" dirty="0">
              <a:latin typeface="+mj-lt"/>
              <a:sym typeface="Calibri"/>
            </a:endParaRPr>
          </a:p>
        </p:txBody>
      </p:sp>
      <p:cxnSp>
        <p:nvCxnSpPr>
          <p:cNvPr id="14" name="Google Shape;27;p3">
            <a:extLst>
              <a:ext uri="{FF2B5EF4-FFF2-40B4-BE49-F238E27FC236}">
                <a16:creationId xmlns:a16="http://schemas.microsoft.com/office/drawing/2014/main" id="{502DA501-925E-45F8-9DE1-485ED6872A58}"/>
              </a:ext>
            </a:extLst>
          </p:cNvPr>
          <p:cNvCxnSpPr/>
          <p:nvPr/>
        </p:nvCxnSpPr>
        <p:spPr>
          <a:xfrm>
            <a:off x="10118090" y="1497837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" name="Google Shape;28;p3">
            <a:extLst>
              <a:ext uri="{FF2B5EF4-FFF2-40B4-BE49-F238E27FC236}">
                <a16:creationId xmlns:a16="http://schemas.microsoft.com/office/drawing/2014/main" id="{34DB3960-CCB8-402B-A8C8-35C9E911F954}"/>
              </a:ext>
            </a:extLst>
          </p:cNvPr>
          <p:cNvSpPr/>
          <p:nvPr/>
        </p:nvSpPr>
        <p:spPr>
          <a:xfrm>
            <a:off x="10179519" y="1406397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ko-KR" altLang="en-US" dirty="0">
                <a:solidFill>
                  <a:srgbClr val="4F5D75"/>
                </a:solidFill>
                <a:latin typeface="Malgun Gothic"/>
                <a:ea typeface="Malgun Gothic"/>
                <a:cs typeface="Calibri"/>
                <a:sym typeface="Malgun Gothic"/>
              </a:rPr>
              <a:t>저장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" name="Google Shape;27;p3">
            <a:extLst>
              <a:ext uri="{FF2B5EF4-FFF2-40B4-BE49-F238E27FC236}">
                <a16:creationId xmlns:a16="http://schemas.microsoft.com/office/drawing/2014/main" id="{089C24D6-0462-4482-88DE-818E8B83A67C}"/>
              </a:ext>
            </a:extLst>
          </p:cNvPr>
          <p:cNvCxnSpPr/>
          <p:nvPr/>
        </p:nvCxnSpPr>
        <p:spPr>
          <a:xfrm>
            <a:off x="653637" y="2152568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7" name="Google Shape;28;p3">
            <a:extLst>
              <a:ext uri="{FF2B5EF4-FFF2-40B4-BE49-F238E27FC236}">
                <a16:creationId xmlns:a16="http://schemas.microsoft.com/office/drawing/2014/main" id="{56FD26DC-2CFF-48ED-8379-FADFA827B047}"/>
              </a:ext>
            </a:extLst>
          </p:cNvPr>
          <p:cNvSpPr/>
          <p:nvPr/>
        </p:nvSpPr>
        <p:spPr>
          <a:xfrm>
            <a:off x="726789" y="2061128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ko-KR" altLang="en-US" dirty="0">
                <a:solidFill>
                  <a:srgbClr val="4F5D75"/>
                </a:solidFill>
                <a:latin typeface="Malgun Gothic"/>
                <a:ea typeface="Malgun Gothic"/>
                <a:cs typeface="Calibri"/>
                <a:sym typeface="Malgun Gothic"/>
              </a:rPr>
              <a:t>처리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4821F9B3-68F4-408B-8065-59B9D8C60824}"/>
              </a:ext>
            </a:extLst>
          </p:cNvPr>
          <p:cNvGraphicFramePr>
            <a:graphicFrameLocks noGrp="1"/>
          </p:cNvGraphicFramePr>
          <p:nvPr/>
        </p:nvGraphicFramePr>
        <p:xfrm>
          <a:off x="3512629" y="3245834"/>
          <a:ext cx="5166741" cy="1510920"/>
        </p:xfrm>
        <a:graphic>
          <a:graphicData uri="http://schemas.openxmlformats.org/drawingml/2006/table">
            <a:tbl>
              <a:tblPr/>
              <a:tblGrid>
                <a:gridCol w="1506601">
                  <a:extLst>
                    <a:ext uri="{9D8B030D-6E8A-4147-A177-3AD203B41FA5}">
                      <a16:colId xmlns:a16="http://schemas.microsoft.com/office/drawing/2014/main" val="1760484890"/>
                    </a:ext>
                  </a:extLst>
                </a:gridCol>
                <a:gridCol w="2153539">
                  <a:extLst>
                    <a:ext uri="{9D8B030D-6E8A-4147-A177-3AD203B41FA5}">
                      <a16:colId xmlns:a16="http://schemas.microsoft.com/office/drawing/2014/main" val="4172666837"/>
                    </a:ext>
                  </a:extLst>
                </a:gridCol>
                <a:gridCol w="1506601">
                  <a:extLst>
                    <a:ext uri="{9D8B030D-6E8A-4147-A177-3AD203B41FA5}">
                      <a16:colId xmlns:a16="http://schemas.microsoft.com/office/drawing/2014/main" val="375212466"/>
                    </a:ext>
                  </a:extLst>
                </a:gridCol>
              </a:tblGrid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모델 타겟 데이터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핵심 입력 데이터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모델 구조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699508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전력 수요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일사량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PatchTST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2203455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태양광 발전량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일사량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전운량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PatchTST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4675636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풍력 발전량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풍력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LGBM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7801110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발전용 가스송출량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전력수요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신재생 발전량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LGBM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87461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도시가스 송출량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계절성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기온기반 추정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4498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9455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0829DF8D-F997-403D-A70D-4082DFA27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6274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1025" name="_x666708848">
            <a:extLst>
              <a:ext uri="{FF2B5EF4-FFF2-40B4-BE49-F238E27FC236}">
                <a16:creationId xmlns:a16="http://schemas.microsoft.com/office/drawing/2014/main" id="{C36F0592-AB3C-497D-A476-12F27B235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89" y="69742"/>
            <a:ext cx="10106450" cy="113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4;p3">
            <a:extLst>
              <a:ext uri="{FF2B5EF4-FFF2-40B4-BE49-F238E27FC236}">
                <a16:creationId xmlns:a16="http://schemas.microsoft.com/office/drawing/2014/main" id="{C017917B-0E98-408D-AA7F-D9E0DA0A77FE}"/>
              </a:ext>
            </a:extLst>
          </p:cNvPr>
          <p:cNvSpPr/>
          <p:nvPr/>
        </p:nvSpPr>
        <p:spPr>
          <a:xfrm>
            <a:off x="200467" y="2971799"/>
            <a:ext cx="3610168" cy="19870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algn="ctr">
              <a:buClr>
                <a:srgbClr val="1A1A1A"/>
              </a:buClr>
              <a:buSzPts val="1300"/>
            </a:pPr>
            <a:r>
              <a:rPr lang="ko-KR" altLang="en-US" sz="1600" kern="0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모델 타겟 데이터</a:t>
            </a:r>
            <a:endParaRPr lang="en-US" altLang="ko-KR" sz="1600" b="1" dirty="0"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전력 수요</a:t>
            </a:r>
            <a:endParaRPr lang="ko-KR" altLang="ko-KR" sz="1600" b="0" i="0" u="none" strike="noStrike" dirty="0">
              <a:effectLst/>
              <a:latin typeface="Arial" panose="020B0604020202020204" pitchFamily="34" charset="0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태양광 발전량</a:t>
            </a:r>
            <a:endParaRPr lang="ko-KR" altLang="ko-KR" sz="1600" b="0" i="0" u="none" strike="noStrike" dirty="0">
              <a:effectLst/>
              <a:latin typeface="Arial" panose="020B0604020202020204" pitchFamily="34" charset="0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풍력 발전량</a:t>
            </a:r>
            <a:endParaRPr lang="ko-KR" altLang="ko-KR" sz="1600" b="0" i="0" u="none" strike="noStrike" dirty="0">
              <a:effectLst/>
              <a:latin typeface="Arial" panose="020B0604020202020204" pitchFamily="34" charset="0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발전용 </a:t>
            </a:r>
            <a:r>
              <a:rPr lang="ko-KR" altLang="ko-KR" sz="1600" b="0" i="0" u="none" strike="noStrike" spc="0" dirty="0" err="1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가스송출량</a:t>
            </a:r>
            <a:endParaRPr lang="ko-KR" altLang="ko-KR" sz="1600" b="0" i="0" u="none" strike="noStrike" dirty="0">
              <a:effectLst/>
              <a:latin typeface="Arial" panose="020B0604020202020204" pitchFamily="34" charset="0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도시가스 </a:t>
            </a:r>
            <a:r>
              <a:rPr lang="ko-KR" altLang="ko-KR" sz="1600" b="0" i="0" u="none" strike="noStrike" spc="0" dirty="0" err="1">
                <a:solidFill>
                  <a:srgbClr val="000000"/>
                </a:solidFill>
                <a:effectLst/>
                <a:latin typeface="한컴바탕"/>
                <a:ea typeface="한컴바탕"/>
              </a:rPr>
              <a:t>송출량</a:t>
            </a:r>
            <a:endParaRPr lang="ko-KR" altLang="ko-KR" sz="16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5" name="Google Shape;30;p3">
            <a:extLst>
              <a:ext uri="{FF2B5EF4-FFF2-40B4-BE49-F238E27FC236}">
                <a16:creationId xmlns:a16="http://schemas.microsoft.com/office/drawing/2014/main" id="{7DDCB53D-6949-4CD7-BF12-8B0BABC1F37F}"/>
              </a:ext>
            </a:extLst>
          </p:cNvPr>
          <p:cNvSpPr/>
          <p:nvPr/>
        </p:nvSpPr>
        <p:spPr>
          <a:xfrm>
            <a:off x="5858256" y="1909446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;p3">
            <a:extLst>
              <a:ext uri="{FF2B5EF4-FFF2-40B4-BE49-F238E27FC236}">
                <a16:creationId xmlns:a16="http://schemas.microsoft.com/office/drawing/2014/main" id="{62D0B6B9-9C79-4040-90C4-21BE537DBB68}"/>
              </a:ext>
            </a:extLst>
          </p:cNvPr>
          <p:cNvSpPr/>
          <p:nvPr/>
        </p:nvSpPr>
        <p:spPr>
          <a:xfrm>
            <a:off x="5005757" y="2415243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A8399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7A839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;p3">
            <a:extLst>
              <a:ext uri="{FF2B5EF4-FFF2-40B4-BE49-F238E27FC236}">
                <a16:creationId xmlns:a16="http://schemas.microsoft.com/office/drawing/2014/main" id="{F40E001A-5EF4-4F19-8819-11358588068B}"/>
              </a:ext>
            </a:extLst>
          </p:cNvPr>
          <p:cNvSpPr/>
          <p:nvPr/>
        </p:nvSpPr>
        <p:spPr>
          <a:xfrm>
            <a:off x="1467734" y="594360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Malgun Gothic"/>
              <a:buNone/>
            </a:pPr>
            <a:r>
              <a:rPr lang="en-US" sz="1300" b="1" i="0" u="none" strike="noStrike" cap="none" dirty="0" err="1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r>
              <a:rPr lang="en-US" sz="1300" b="1" i="0" u="none" strike="noStrike" cap="none" dirty="0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A1A1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</a:t>
            </a:r>
            <a:r>
              <a:rPr lang="en-US" sz="950" b="0" i="0" u="none" strike="noStrike" cap="none" dirty="0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어떻게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4F5D75"/>
              </a:buClr>
              <a:buSzPts val="950"/>
              <a:buFont typeface="Malgun Gothic"/>
              <a:buNone/>
            </a:pPr>
            <a:r>
              <a:rPr lang="en-US" sz="950" b="0" i="0" u="none" strike="noStrike" cap="none" dirty="0" err="1">
                <a:solidFill>
                  <a:srgbClr val="4F5D75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처리하는지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4;p3">
            <a:extLst>
              <a:ext uri="{FF2B5EF4-FFF2-40B4-BE49-F238E27FC236}">
                <a16:creationId xmlns:a16="http://schemas.microsoft.com/office/drawing/2014/main" id="{BCA412BE-2D72-48DE-960F-C5CE6656AD75}"/>
              </a:ext>
            </a:extLst>
          </p:cNvPr>
          <p:cNvSpPr/>
          <p:nvPr/>
        </p:nvSpPr>
        <p:spPr>
          <a:xfrm>
            <a:off x="4174513" y="2971783"/>
            <a:ext cx="3610168" cy="198706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2D31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indent="0" algn="ctr" rtl="0" fontAlgn="base" latinLnBrk="0">
              <a:spcBef>
                <a:spcPts val="0"/>
              </a:spcBef>
              <a:spcAft>
                <a:spcPts val="0"/>
              </a:spcAft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핵심 입력 데이터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기상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(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기온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, 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일사량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)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기상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(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일사량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, </a:t>
            </a:r>
            <a:r>
              <a:rPr lang="ko-KR" altLang="ko-KR" sz="1600" b="0" i="0" u="none" strike="noStrike" spc="0" dirty="0" err="1">
                <a:solidFill>
                  <a:srgbClr val="000000"/>
                </a:solidFill>
                <a:effectLst/>
                <a:latin typeface="+mj-lt"/>
                <a:ea typeface="한컴바탕"/>
              </a:rPr>
              <a:t>전운량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)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기상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(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풍력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)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전력수요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, 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신재생 발전량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기상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(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기온</a:t>
            </a: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), </a:t>
            </a: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계절성</a:t>
            </a:r>
            <a:endParaRPr lang="ko-KR" altLang="ko-KR" sz="1600" b="0" i="0" u="none" strike="noStrike" dirty="0">
              <a:effectLst/>
              <a:latin typeface="+mj-lt"/>
            </a:endParaRPr>
          </a:p>
        </p:txBody>
      </p:sp>
      <p:sp>
        <p:nvSpPr>
          <p:cNvPr id="9" name="Google Shape;57;p4">
            <a:extLst>
              <a:ext uri="{FF2B5EF4-FFF2-40B4-BE49-F238E27FC236}">
                <a16:creationId xmlns:a16="http://schemas.microsoft.com/office/drawing/2014/main" id="{32A84FDF-6925-446E-93C8-88A46159C33F}"/>
              </a:ext>
            </a:extLst>
          </p:cNvPr>
          <p:cNvSpPr/>
          <p:nvPr/>
        </p:nvSpPr>
        <p:spPr>
          <a:xfrm>
            <a:off x="8148559" y="2904388"/>
            <a:ext cx="1967822" cy="2054456"/>
          </a:xfrm>
          <a:prstGeom prst="roundRect">
            <a:avLst>
              <a:gd name="adj" fmla="val 6000"/>
            </a:avLst>
          </a:prstGeom>
          <a:solidFill>
            <a:srgbClr val="F4F5F6"/>
          </a:solidFill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8900" tIns="88900" rIns="88900" bIns="88900" anchor="t" anchorCtr="0">
            <a:noAutofit/>
          </a:bodyPr>
          <a:lstStyle/>
          <a:p>
            <a:pPr marL="0" marR="0" indent="0" algn="ctr" rtl="0" fontAlgn="base" latinLnBrk="0">
              <a:spcBef>
                <a:spcPts val="0"/>
              </a:spcBef>
              <a:spcAft>
                <a:spcPts val="0"/>
              </a:spcAft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모델 구조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ko-KR" sz="1600" b="0" i="0" u="none" strike="noStrike" spc="0" dirty="0" err="1">
                <a:solidFill>
                  <a:srgbClr val="000000"/>
                </a:solidFill>
                <a:effectLst/>
                <a:latin typeface="+mj-lt"/>
                <a:ea typeface="한컴바탕"/>
              </a:rPr>
              <a:t>PatchTST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ko-KR" sz="1600" b="0" i="0" u="none" strike="noStrike" spc="0" dirty="0" err="1">
                <a:solidFill>
                  <a:srgbClr val="000000"/>
                </a:solidFill>
                <a:effectLst/>
                <a:latin typeface="+mj-lt"/>
                <a:ea typeface="한컴바탕"/>
              </a:rPr>
              <a:t>PatchTST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LGBM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LGBM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 marL="285750" marR="0" indent="-285750" algn="ctr" rtl="0" fontAlgn="base" latinLnBrk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altLang="ko-KR" sz="1600" b="0" i="0" u="none" strike="noStrike" spc="0" dirty="0">
                <a:solidFill>
                  <a:srgbClr val="000000"/>
                </a:solidFill>
                <a:effectLst/>
                <a:latin typeface="+mj-lt"/>
                <a:ea typeface="한컴바탕"/>
              </a:rPr>
              <a:t>기온기반 추정</a:t>
            </a:r>
            <a:endParaRPr lang="ko-KR" altLang="ko-KR" sz="1600" b="0" i="0" u="none" strike="noStrike" dirty="0">
              <a:effectLst/>
              <a:latin typeface="+mj-lt"/>
            </a:endParaRPr>
          </a:p>
          <a:p>
            <a:pPr>
              <a:buClr>
                <a:srgbClr val="1A1A1A"/>
              </a:buClr>
              <a:buSzPts val="1300"/>
            </a:pPr>
            <a:endParaRPr lang="en-US" altLang="ko-KR" sz="1600" dirty="0">
              <a:latin typeface="+mj-lt"/>
              <a:sym typeface="Calibri"/>
            </a:endParaRPr>
          </a:p>
        </p:txBody>
      </p:sp>
      <p:cxnSp>
        <p:nvCxnSpPr>
          <p:cNvPr id="14" name="Google Shape;27;p3">
            <a:extLst>
              <a:ext uri="{FF2B5EF4-FFF2-40B4-BE49-F238E27FC236}">
                <a16:creationId xmlns:a16="http://schemas.microsoft.com/office/drawing/2014/main" id="{502DA501-925E-45F8-9DE1-485ED6872A58}"/>
              </a:ext>
            </a:extLst>
          </p:cNvPr>
          <p:cNvCxnSpPr/>
          <p:nvPr/>
        </p:nvCxnSpPr>
        <p:spPr>
          <a:xfrm>
            <a:off x="10118090" y="1497837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" name="Google Shape;28;p3">
            <a:extLst>
              <a:ext uri="{FF2B5EF4-FFF2-40B4-BE49-F238E27FC236}">
                <a16:creationId xmlns:a16="http://schemas.microsoft.com/office/drawing/2014/main" id="{34DB3960-CCB8-402B-A8C8-35C9E911F954}"/>
              </a:ext>
            </a:extLst>
          </p:cNvPr>
          <p:cNvSpPr/>
          <p:nvPr/>
        </p:nvSpPr>
        <p:spPr>
          <a:xfrm>
            <a:off x="10179519" y="1406397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ko-KR" altLang="en-US" dirty="0">
                <a:solidFill>
                  <a:srgbClr val="4F5D75"/>
                </a:solidFill>
                <a:latin typeface="Malgun Gothic"/>
                <a:ea typeface="Malgun Gothic"/>
                <a:cs typeface="Calibri"/>
                <a:sym typeface="Malgun Gothic"/>
              </a:rPr>
              <a:t>저장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" name="Google Shape;27;p3">
            <a:extLst>
              <a:ext uri="{FF2B5EF4-FFF2-40B4-BE49-F238E27FC236}">
                <a16:creationId xmlns:a16="http://schemas.microsoft.com/office/drawing/2014/main" id="{089C24D6-0462-4482-88DE-818E8B83A67C}"/>
              </a:ext>
            </a:extLst>
          </p:cNvPr>
          <p:cNvCxnSpPr/>
          <p:nvPr/>
        </p:nvCxnSpPr>
        <p:spPr>
          <a:xfrm>
            <a:off x="653637" y="2152568"/>
            <a:ext cx="621792" cy="0"/>
          </a:xfrm>
          <a:prstGeom prst="straightConnector1">
            <a:avLst/>
          </a:prstGeom>
          <a:noFill/>
          <a:ln w="12700" cap="flat" cmpd="sng">
            <a:solidFill>
              <a:srgbClr val="4F5D75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7" name="Google Shape;28;p3">
            <a:extLst>
              <a:ext uri="{FF2B5EF4-FFF2-40B4-BE49-F238E27FC236}">
                <a16:creationId xmlns:a16="http://schemas.microsoft.com/office/drawing/2014/main" id="{56FD26DC-2CFF-48ED-8379-FADFA827B047}"/>
              </a:ext>
            </a:extLst>
          </p:cNvPr>
          <p:cNvSpPr/>
          <p:nvPr/>
        </p:nvSpPr>
        <p:spPr>
          <a:xfrm>
            <a:off x="726789" y="2061128"/>
            <a:ext cx="475488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F5D75"/>
              </a:buClr>
              <a:buSzPts val="800"/>
              <a:buFont typeface="Malgun Gothic"/>
              <a:buNone/>
            </a:pPr>
            <a:r>
              <a:rPr lang="ko-KR" altLang="en-US" dirty="0">
                <a:solidFill>
                  <a:srgbClr val="4F5D75"/>
                </a:solidFill>
                <a:latin typeface="Malgun Gothic"/>
                <a:ea typeface="Malgun Gothic"/>
                <a:cs typeface="Calibri"/>
                <a:sym typeface="Malgun Gothic"/>
              </a:rPr>
              <a:t>처리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4821F9B3-68F4-408B-8065-59B9D8C60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924094"/>
              </p:ext>
            </p:extLst>
          </p:nvPr>
        </p:nvGraphicFramePr>
        <p:xfrm>
          <a:off x="5642460" y="5210840"/>
          <a:ext cx="5166741" cy="1510920"/>
        </p:xfrm>
        <a:graphic>
          <a:graphicData uri="http://schemas.openxmlformats.org/drawingml/2006/table">
            <a:tbl>
              <a:tblPr/>
              <a:tblGrid>
                <a:gridCol w="1506601">
                  <a:extLst>
                    <a:ext uri="{9D8B030D-6E8A-4147-A177-3AD203B41FA5}">
                      <a16:colId xmlns:a16="http://schemas.microsoft.com/office/drawing/2014/main" val="1760484890"/>
                    </a:ext>
                  </a:extLst>
                </a:gridCol>
                <a:gridCol w="2153539">
                  <a:extLst>
                    <a:ext uri="{9D8B030D-6E8A-4147-A177-3AD203B41FA5}">
                      <a16:colId xmlns:a16="http://schemas.microsoft.com/office/drawing/2014/main" val="4172666837"/>
                    </a:ext>
                  </a:extLst>
                </a:gridCol>
                <a:gridCol w="1506601">
                  <a:extLst>
                    <a:ext uri="{9D8B030D-6E8A-4147-A177-3AD203B41FA5}">
                      <a16:colId xmlns:a16="http://schemas.microsoft.com/office/drawing/2014/main" val="375212466"/>
                    </a:ext>
                  </a:extLst>
                </a:gridCol>
              </a:tblGrid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모델 타겟 데이터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핵심 입력 데이터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모델 구조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699508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전력 수요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일사량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PatchTST</a:t>
                      </a:r>
                      <a:endParaRPr 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2203455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태양광 발전량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일사량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전운량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PatchTST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4675636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풍력 발전량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풍력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LGBM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7801110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발전용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가스송출량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전력수요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신재생 발전량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LGBM</a:t>
                      </a:r>
                      <a:endParaRPr 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87461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도시가스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송출량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기상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(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),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계절성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한컴바탕"/>
                          <a:ea typeface="한컴바탕"/>
                        </a:rPr>
                        <a:t>기온기반 추정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한컴바탕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4498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5544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9141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761</Words>
  <Application>Microsoft Office PowerPoint</Application>
  <PresentationFormat>와이드스크린</PresentationFormat>
  <Paragraphs>232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한컴바탕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범준 김</cp:lastModifiedBy>
  <cp:revision>3</cp:revision>
  <dcterms:modified xsi:type="dcterms:W3CDTF">2026-06-29T12:20:07Z</dcterms:modified>
</cp:coreProperties>
</file>